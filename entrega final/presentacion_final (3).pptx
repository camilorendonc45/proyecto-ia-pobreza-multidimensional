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Hogares</c:v>
                </c:pt>
              </c:strCache>
            </c:strRef>
          </c:tx>
          <c:spPr>
            <a:solidFill>
              <a:srgbClr val="2E86AB"/>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E86AB"/>
              </a:solidFill>
              <a:effectLst/>
            </c:spPr>
          </c:dPt>
          <c:dPt>
            <c:idx val="1"/>
            <c:invertIfNegative val="0"/>
            <c:bubble3D val="0"/>
            <c:spPr>
              <a:solidFill>
                <a:srgbClr val="E84855"/>
              </a:solidFill>
              <a:effectLst/>
            </c:spPr>
          </c:dPt>
          <c:dPt>
            <c:idx val="2"/>
            <c:invertIfNegative val="0"/>
            <c:bubble3D val="0"/>
            <c:spPr>
              <a:solidFill>
                <a:srgbClr val="3BB273"/>
              </a:solidFill>
              <a:effectLst/>
            </c:spPr>
          </c:dPt>
          <c:dPt>
            <c:idx val="3"/>
            <c:invertIfNegative val="0"/>
            <c:bubble3D val="0"/>
            <c:spPr>
              <a:solidFill>
                <a:srgbClr val="F7B731"/>
              </a:solidFill>
              <a:effectLst/>
            </c:spPr>
          </c:dPt>
          <c:cat>
            <c:multiLvlStrRef>
              <c:f>Sheet1!$A$2:$A$5</c:f>
              <c:multiLvlStrCache>
                <c:ptCount val="4"/>
                <c:lvl>
                  <c:pt idx="0">
                    <c:v>Estable</c:v>
                  </c:pt>
                  <c:pt idx="1">
                    <c:v>Crónico</c:v>
                  </c:pt>
                  <c:pt idx="2">
                    <c:v>Mov. ascendente</c:v>
                  </c:pt>
                  <c:pt idx="3">
                    <c:v>Vulnerable</c:v>
                  </c:pt>
                </c:lvl>
              </c:multiLvlStrCache>
            </c:multiLvlStrRef>
          </c:cat>
          <c:val>
            <c:numRef>
              <c:f>Sheet1!$B$2:$B$5</c:f>
              <c:numCache>
                <c:formatCode>General</c:formatCode>
                <c:ptCount val="4"/>
                <c:pt idx="0">
                  <c:v>8166</c:v>
                </c:pt>
                <c:pt idx="1">
                  <c:v>4971</c:v>
                </c:pt>
                <c:pt idx="2">
                  <c:v>2042</c:v>
                </c:pt>
                <c:pt idx="3">
                  <c:v>1778</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7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Índice de activos promedio</c:v>
                </c:pt>
              </c:strCache>
            </c:strRef>
          </c:tx>
          <c:spPr>
            <a:solidFill>
              <a:srgbClr val="2E86AB"/>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E86AB"/>
              </a:solidFill>
              <a:effectLst/>
            </c:spPr>
          </c:dPt>
          <c:dPt>
            <c:idx val="1"/>
            <c:invertIfNegative val="0"/>
            <c:bubble3D val="0"/>
            <c:spPr>
              <a:solidFill>
                <a:srgbClr val="F7B731"/>
              </a:solidFill>
              <a:effectLst/>
            </c:spPr>
          </c:dPt>
          <c:dPt>
            <c:idx val="2"/>
            <c:invertIfNegative val="0"/>
            <c:bubble3D val="0"/>
            <c:spPr>
              <a:solidFill>
                <a:srgbClr val="3BB273"/>
              </a:solidFill>
              <a:effectLst/>
            </c:spPr>
          </c:dPt>
          <c:dPt>
            <c:idx val="3"/>
            <c:invertIfNegative val="0"/>
            <c:bubble3D val="0"/>
            <c:spPr>
              <a:solidFill>
                <a:srgbClr val="E84855"/>
              </a:solidFill>
              <a:effectLst/>
            </c:spPr>
          </c:dPt>
          <c:cat>
            <c:multiLvlStrRef>
              <c:f>Sheet1!$A$2:$A$5</c:f>
              <c:multiLvlStrCache>
                <c:ptCount val="4"/>
                <c:lvl>
                  <c:pt idx="0">
                    <c:v>Estable</c:v>
                  </c:pt>
                  <c:pt idx="1">
                    <c:v>Vulnerable</c:v>
                  </c:pt>
                  <c:pt idx="2">
                    <c:v>Mov. ascendente</c:v>
                  </c:pt>
                  <c:pt idx="3">
                    <c:v>Crónico</c:v>
                  </c:pt>
                </c:lvl>
              </c:multiLvlStrCache>
            </c:multiLvlStrRef>
          </c:cat>
          <c:val>
            <c:numRef>
              <c:f>Sheet1!$B$2:$B$5</c:f>
              <c:numCache>
                <c:formatCode>General</c:formatCode>
                <c:ptCount val="4"/>
                <c:pt idx="0">
                  <c:v>14.9</c:v>
                </c:pt>
                <c:pt idx="1">
                  <c:v>14.4</c:v>
                </c:pt>
                <c:pt idx="2">
                  <c:v>8.95</c:v>
                </c:pt>
                <c:pt idx="3">
                  <c:v>9.01</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7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4748B"/>
                </a:solidFill>
                <a:latin typeface="Arial"/>
              </a:defRPr>
            </a:pPr>
            <a:r>
              <a:rPr sz="1100" b="0" i="0" u="none" strike="noStrike">
                <a:solidFill>
                  <a:srgbClr val="64748B"/>
                </a:solidFill>
                <a:latin typeface="Arial"/>
              </a:rPr>
              <a:t>Resiliencia financiera por zona</a:t>
            </a:r>
          </a:p>
        </c:rich>
      </c:tx>
      <c:layout/>
      <c:overlay val="0"/>
    </c:title>
    <c:autoTitleDeleted val="0"/>
    <c:plotArea>
      <c:layout/>
      <c:barChart>
        <c:barDir val="col"/>
        <c:grouping val="clustered"/>
        <c:varyColors val="0"/>
        <c:ser>
          <c:idx val="0"/>
          <c:order val="0"/>
          <c:tx>
            <c:strRef>
              <c:f>Sheet1!$B$1</c:f>
              <c:strCache>
                <c:ptCount val="1"/>
                <c:pt idx="0">
                  <c:v>Índice de resiliencia (×100)</c:v>
                </c:pt>
              </c:strCache>
            </c:strRef>
          </c:tx>
          <c:spPr>
            <a:solidFill>
              <a:srgbClr val="2E86AB"/>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E86AB"/>
              </a:solidFill>
              <a:effectLst/>
            </c:spPr>
          </c:dPt>
          <c:dPt>
            <c:idx val="1"/>
            <c:invertIfNegative val="0"/>
            <c:bubble3D val="0"/>
            <c:spPr>
              <a:solidFill>
                <a:srgbClr val="E84855"/>
              </a:solidFill>
              <a:effectLst/>
            </c:spPr>
          </c:dPt>
          <c:cat>
            <c:multiLvlStrRef>
              <c:f>Sheet1!$A$2:$A$3</c:f>
              <c:multiLvlStrCache>
                <c:ptCount val="2"/>
                <c:lvl>
                  <c:pt idx="0">
                    <c:v>Urbano</c:v>
                  </c:pt>
                  <c:pt idx="1">
                    <c:v>Rural</c:v>
                  </c:pt>
                </c:lvl>
              </c:multiLvlStrCache>
            </c:multiLvlStrRef>
          </c:cat>
          <c:val>
            <c:numRef>
              <c:f>Sheet1!$B$2:$B$3</c:f>
              <c:numCache>
                <c:formatCode>General</c:formatCode>
                <c:ptCount val="2"/>
                <c:pt idx="0">
                  <c:v>63</c:v>
                </c:pt>
                <c:pt idx="1">
                  <c:v>24</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4748B"/>
                </a:solidFill>
                <a:latin typeface="Arial"/>
              </a:defRPr>
            </a:pPr>
            <a:r>
              <a:rPr sz="1100" b="0" i="0" u="none" strike="noStrike">
                <a:solidFill>
                  <a:srgbClr val="64748B"/>
                </a:solidFill>
                <a:latin typeface="Arial"/>
              </a:rPr>
              <a:t>Hogares con algún subsidio del Estado (%)</a:t>
            </a:r>
          </a:p>
        </c:rich>
      </c:tx>
      <c:layout/>
      <c:overlay val="0"/>
    </c:title>
    <c:autoTitleDeleted val="0"/>
    <c:plotArea>
      <c:layout/>
      <c:barChart>
        <c:barDir val="col"/>
        <c:grouping val="clustered"/>
        <c:varyColors val="0"/>
        <c:ser>
          <c:idx val="0"/>
          <c:order val="0"/>
          <c:tx>
            <c:strRef>
              <c:f>Sheet1!$B$1</c:f>
              <c:strCache>
                <c:ptCount val="1"/>
                <c:pt idx="0">
                  <c:v>% que recibe subsidios</c:v>
                </c:pt>
              </c:strCache>
            </c:strRef>
          </c:tx>
          <c:spPr>
            <a:solidFill>
              <a:srgbClr val="2E86AB"/>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E86AB"/>
              </a:solidFill>
              <a:effectLst/>
            </c:spPr>
          </c:dPt>
          <c:dPt>
            <c:idx val="1"/>
            <c:invertIfNegative val="0"/>
            <c:bubble3D val="0"/>
            <c:spPr>
              <a:solidFill>
                <a:srgbClr val="F7B731"/>
              </a:solidFill>
              <a:effectLst/>
            </c:spPr>
          </c:dPt>
          <c:dPt>
            <c:idx val="2"/>
            <c:invertIfNegative val="0"/>
            <c:bubble3D val="0"/>
            <c:spPr>
              <a:solidFill>
                <a:srgbClr val="3BB273"/>
              </a:solidFill>
              <a:effectLst/>
            </c:spPr>
          </c:dPt>
          <c:dPt>
            <c:idx val="3"/>
            <c:invertIfNegative val="0"/>
            <c:bubble3D val="0"/>
            <c:spPr>
              <a:solidFill>
                <a:srgbClr val="E84855"/>
              </a:solidFill>
              <a:effectLst/>
            </c:spPr>
          </c:dPt>
          <c:cat>
            <c:multiLvlStrRef>
              <c:f>Sheet1!$A$2:$A$5</c:f>
              <c:multiLvlStrCache>
                <c:ptCount val="4"/>
                <c:lvl>
                  <c:pt idx="0">
                    <c:v>Estable</c:v>
                  </c:pt>
                  <c:pt idx="1">
                    <c:v>Vulnerable</c:v>
                  </c:pt>
                  <c:pt idx="2">
                    <c:v>Mov. asc.</c:v>
                  </c:pt>
                  <c:pt idx="3">
                    <c:v>Crónico</c:v>
                  </c:pt>
                </c:lvl>
              </c:multiLvlStrCache>
            </c:multiLvlStrRef>
          </c:cat>
          <c:val>
            <c:numRef>
              <c:f>Sheet1!$B$2:$B$5</c:f>
              <c:numCache>
                <c:formatCode>General</c:formatCode>
                <c:ptCount val="4"/>
                <c:pt idx="0">
                  <c:v>32</c:v>
                </c:pt>
                <c:pt idx="1">
                  <c:v>45</c:v>
                </c:pt>
                <c:pt idx="2">
                  <c:v>52</c:v>
                </c:pt>
                <c:pt idx="3">
                  <c:v>64.5</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64748B"/>
                </a:solidFill>
                <a:latin typeface="Arial"/>
              </a:defRPr>
            </a:pPr>
            <a:r>
              <a:rPr sz="1000" b="0" i="0" u="none" strike="noStrike">
                <a:solidFill>
                  <a:srgbClr val="64748B"/>
                </a:solidFill>
                <a:latin typeface="Arial"/>
              </a:rPr>
              <a:t>Importancia de variables — Random Forest (% capacidad predictiva)</a:t>
            </a:r>
          </a:p>
        </c:rich>
      </c:tx>
      <c:layout/>
      <c:overlay val="0"/>
    </c:title>
    <c:autoTitleDeleted val="0"/>
    <c:plotArea>
      <c:layout/>
      <c:barChart>
        <c:barDir val="bar"/>
        <c:grouping val="clustered"/>
        <c:varyColors val="0"/>
        <c:ser>
          <c:idx val="0"/>
          <c:order val="0"/>
          <c:tx>
            <c:strRef>
              <c:f>Sheet1!$B$1</c:f>
              <c:strCache>
                <c:ptCount val="1"/>
                <c:pt idx="0">
                  <c:v>Random Forest</c:v>
                </c:pt>
              </c:strCache>
            </c:strRef>
          </c:tx>
          <c:spPr>
            <a:solidFill>
              <a:srgbClr val="1F4E79"/>
            </a:solidFill>
            <a:effectLst/>
          </c:spPr>
          <c:invertIfNegative val="0"/>
          <c:dLbls>
            <c:numFmt formatCode="#,##0" sourceLinked="0"/>
            <c:txPr>
              <a:bodyPr/>
              <a:lstStyle/>
              <a:p>
                <a:pPr>
                  <a:defRPr b="0" i="0" strike="noStrike" sz="900" u="none">
                    <a:solidFill>
                      <a:srgbClr val="0F2D54"/>
                    </a:solidFill>
                    <a:latin typeface="Arial"/>
                  </a:defRPr>
                </a:pPr>
              </a:p>
            </c:txPr>
            <c:showLegendKey val="0"/>
            <c:showVal val="1"/>
            <c:showCatName val="0"/>
            <c:showSerName val="0"/>
            <c:showPercent val="0"/>
            <c:showBubbleSize val="0"/>
            <c:showLeaderLines val="0"/>
          </c:dLbls>
          <c:cat>
            <c:multiLvlStrRef>
              <c:f>Sheet1!$A$2:$A$10</c:f>
              <c:multiLvlStrCache>
                <c:ptCount val="9"/>
                <c:lvl>
                  <c:pt idx="0">
                    <c:v>Privación en vivienda</c:v>
                  </c:pt>
                  <c:pt idx="1">
                    <c:v>Zona (urbano/rural)</c:v>
                  </c:pt>
                  <c:pt idx="2">
                    <c:v>Hacinamiento crítico</c:v>
                  </c:pt>
                  <c:pt idx="3">
                    <c:v>Recibe Familias en Acción</c:v>
                  </c:pt>
                  <c:pt idx="4">
                    <c:v>Índice de resiliencia</c:v>
                  </c:pt>
                  <c:pt idx="5">
                    <c:v>Estrato socioeconómico</c:v>
                  </c:pt>
                  <c:pt idx="6">
                    <c:v>Tasa de dependencia</c:v>
                  </c:pt>
                  <c:pt idx="7">
                    <c:v>Índice de activos del hogar</c:v>
                  </c:pt>
                  <c:pt idx="8">
                    <c:v>Riqueza (PCA)</c:v>
                  </c:pt>
                </c:lvl>
              </c:multiLvlStrCache>
            </c:multiLvlStrRef>
          </c:cat>
          <c:val>
            <c:numRef>
              <c:f>Sheet1!$B$2:$B$10</c:f>
              <c:numCache>
                <c:formatCode>General</c:formatCode>
                <c:ptCount val="9"/>
                <c:pt idx="0">
                  <c:v>1</c:v>
                </c:pt>
                <c:pt idx="1">
                  <c:v>1</c:v>
                </c:pt>
                <c:pt idx="2">
                  <c:v>1</c:v>
                </c:pt>
                <c:pt idx="3">
                  <c:v>1.7</c:v>
                </c:pt>
                <c:pt idx="4">
                  <c:v>2.2</c:v>
                </c:pt>
                <c:pt idx="5">
                  <c:v>3.4</c:v>
                </c:pt>
                <c:pt idx="6">
                  <c:v>3.5</c:v>
                </c:pt>
                <c:pt idx="7">
                  <c:v>11.2</c:v>
                </c:pt>
                <c:pt idx="8">
                  <c:v>59.7</c:v>
                </c:pt>
              </c:numCache>
            </c:numRef>
          </c:val>
        </c:ser>
        <c:dLbls>
          <c:numFmt formatCode="#,##0" sourceLinked="0"/>
          <c:txPr>
            <a:bodyPr/>
            <a:lstStyle/>
            <a:p>
              <a:pPr>
                <a:defRPr b="0" i="0" strike="noStrike" sz="900" u="none">
                  <a:solidFill>
                    <a:srgbClr val="0F2D54"/>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7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D54"/>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B731"/>
          </a:solidFill>
          <a:ln w="12700">
            <a:solidFill>
              <a:srgbClr val="F7B731"/>
            </a:solidFill>
            <a:prstDash val="solid"/>
          </a:ln>
        </p:spPr>
      </p:sp>
      <p:sp>
        <p:nvSpPr>
          <p:cNvPr id="3" name="Text 1"/>
          <p:cNvSpPr/>
          <p:nvPr/>
        </p:nvSpPr>
        <p:spPr>
          <a:xfrm>
            <a:off x="274320" y="320040"/>
            <a:ext cx="8595360" cy="320040"/>
          </a:xfrm>
          <a:prstGeom prst="rect">
            <a:avLst/>
          </a:prstGeom>
          <a:noFill/>
          <a:ln/>
        </p:spPr>
        <p:txBody>
          <a:bodyPr wrap="square" rtlCol="0" anchor="ctr"/>
          <a:lstStyle/>
          <a:p>
            <a:pPr indent="0" marL="0">
              <a:buNone/>
            </a:pPr>
            <a:r>
              <a:rPr lang="en-US" sz="1000" spc="200" kern="0" dirty="0">
                <a:solidFill>
                  <a:srgbClr val="A0B4C8"/>
                </a:solidFill>
                <a:latin typeface="Calibri" pitchFamily="34" charset="0"/>
                <a:ea typeface="Calibri" pitchFamily="34" charset="-122"/>
                <a:cs typeface="Calibri" pitchFamily="34" charset="-120"/>
              </a:rPr>
              <a:t>INTELIGENCIA ARTIFICIAL CON APLICACIONES EN ECONOMÍA</a:t>
            </a:r>
            <a:endParaRPr lang="en-US" sz="1000" dirty="0"/>
          </a:p>
        </p:txBody>
      </p:sp>
      <p:sp>
        <p:nvSpPr>
          <p:cNvPr id="4" name="Text 2"/>
          <p:cNvSpPr/>
          <p:nvPr/>
        </p:nvSpPr>
        <p:spPr>
          <a:xfrm>
            <a:off x="274320" y="777240"/>
            <a:ext cx="8595360" cy="1737360"/>
          </a:xfrm>
          <a:prstGeom prst="rect">
            <a:avLst/>
          </a:prstGeom>
          <a:noFill/>
          <a:ln/>
        </p:spPr>
        <p:txBody>
          <a:bodyPr wrap="square" rtlCol="0" anchor="ctr"/>
          <a:lstStyle/>
          <a:p>
            <a:pPr indent="0" marL="0">
              <a:lnSpc>
                <a:spcPct val="110000"/>
              </a:lnSpc>
              <a:buNone/>
            </a:pPr>
            <a:r>
              <a:rPr lang="en-US" sz="3000" b="1" dirty="0">
                <a:solidFill>
                  <a:srgbClr val="FFFFFF"/>
                </a:solidFill>
                <a:latin typeface="Calibri" pitchFamily="34" charset="0"/>
                <a:ea typeface="Calibri" pitchFamily="34" charset="-122"/>
                <a:cs typeface="Calibri" pitchFamily="34" charset="-120"/>
              </a:rPr>
              <a:t>En Colombia, nacer pobre no es mala suerte —</a:t>
            </a:r>
            <a:endParaRPr lang="en-US" sz="3000" dirty="0"/>
          </a:p>
          <a:p>
            <a:pPr indent="0" marL="0">
              <a:lnSpc>
                <a:spcPct val="110000"/>
              </a:lnSpc>
              <a:buNone/>
            </a:pPr>
            <a:r>
              <a:rPr lang="en-US" sz="3000" b="1" dirty="0">
                <a:solidFill>
                  <a:srgbClr val="FFFFFF"/>
                </a:solidFill>
                <a:latin typeface="Calibri" pitchFamily="34" charset="0"/>
                <a:ea typeface="Calibri" pitchFamily="34" charset="-122"/>
                <a:cs typeface="Calibri" pitchFamily="34" charset="-120"/>
              </a:rPr>
              <a:t>es una trampa que el Estado puede anticipar</a:t>
            </a:r>
            <a:endParaRPr lang="en-US" sz="3000" dirty="0"/>
          </a:p>
        </p:txBody>
      </p:sp>
      <p:sp>
        <p:nvSpPr>
          <p:cNvPr id="5" name="Text 3"/>
          <p:cNvSpPr/>
          <p:nvPr/>
        </p:nvSpPr>
        <p:spPr>
          <a:xfrm>
            <a:off x="274320" y="2606040"/>
            <a:ext cx="8595360" cy="365760"/>
          </a:xfrm>
          <a:prstGeom prst="rect">
            <a:avLst/>
          </a:prstGeom>
          <a:noFill/>
          <a:ln/>
        </p:spPr>
        <p:txBody>
          <a:bodyPr wrap="square" rtlCol="0" anchor="ctr"/>
          <a:lstStyle/>
          <a:p>
            <a:pPr indent="0" marL="0">
              <a:buNone/>
            </a:pPr>
            <a:r>
              <a:rPr lang="en-US" sz="1400" i="1" dirty="0">
                <a:solidFill>
                  <a:srgbClr val="F7B731"/>
                </a:solidFill>
                <a:latin typeface="Calibri" pitchFamily="34" charset="0"/>
                <a:ea typeface="Calibri" pitchFamily="34" charset="-122"/>
                <a:cs typeface="Calibri" pitchFamily="34" charset="-120"/>
              </a:rPr>
              <a:t>Predicción de transiciones de privación básica · ELCA 2010–2016</a:t>
            </a:r>
            <a:endParaRPr lang="en-US" sz="1400" dirty="0"/>
          </a:p>
        </p:txBody>
      </p:sp>
      <p:sp>
        <p:nvSpPr>
          <p:cNvPr id="6" name="Shape 4"/>
          <p:cNvSpPr/>
          <p:nvPr/>
        </p:nvSpPr>
        <p:spPr>
          <a:xfrm>
            <a:off x="274320" y="3063240"/>
            <a:ext cx="8595360" cy="0"/>
          </a:xfrm>
          <a:prstGeom prst="line">
            <a:avLst/>
          </a:prstGeom>
          <a:noFill/>
          <a:ln w="12700">
            <a:solidFill>
              <a:srgbClr val="2E4A6B"/>
            </a:solidFill>
            <a:prstDash val="solid"/>
          </a:ln>
        </p:spPr>
      </p:sp>
      <p:sp>
        <p:nvSpPr>
          <p:cNvPr id="7" name="Text 5"/>
          <p:cNvSpPr/>
          <p:nvPr/>
        </p:nvSpPr>
        <p:spPr>
          <a:xfrm>
            <a:off x="274320" y="3200400"/>
            <a:ext cx="8595360" cy="320040"/>
          </a:xfrm>
          <a:prstGeom prst="rect">
            <a:avLst/>
          </a:prstGeom>
          <a:noFill/>
          <a:ln/>
        </p:spPr>
        <p:txBody>
          <a:bodyPr wrap="square" rtlCol="0" anchor="ctr"/>
          <a:lstStyle/>
          <a:p>
            <a:pPr indent="0" marL="0">
              <a:buNone/>
            </a:pPr>
            <a:r>
              <a:rPr lang="en-US" sz="1200" dirty="0">
                <a:solidFill>
                  <a:srgbClr val="A0B4C8"/>
                </a:solidFill>
                <a:latin typeface="Calibri" pitchFamily="34" charset="0"/>
                <a:ea typeface="Calibri" pitchFamily="34" charset="-122"/>
                <a:cs typeface="Calibri" pitchFamily="34" charset="-120"/>
              </a:rPr>
              <a:t>Talia Linares  ·  Camilo Rendón  ·  Nicolás Cubillos  ·  Alejandro Velandia</a:t>
            </a:r>
            <a:endParaRPr lang="en-US" sz="1200" dirty="0"/>
          </a:p>
        </p:txBody>
      </p:sp>
      <p:sp>
        <p:nvSpPr>
          <p:cNvPr id="8" name="Text 6"/>
          <p:cNvSpPr/>
          <p:nvPr/>
        </p:nvSpPr>
        <p:spPr>
          <a:xfrm>
            <a:off x="274320" y="3566160"/>
            <a:ext cx="8595360" cy="274320"/>
          </a:xfrm>
          <a:prstGeom prst="rect">
            <a:avLst/>
          </a:prstGeom>
          <a:noFill/>
          <a:ln/>
        </p:spPr>
        <p:txBody>
          <a:bodyPr wrap="square" rtlCol="0" anchor="ctr"/>
          <a:lstStyle/>
          <a:p>
            <a:pPr indent="0" marL="0">
              <a:buNone/>
            </a:pPr>
            <a:r>
              <a:rPr lang="en-US" sz="1100" dirty="0">
                <a:solidFill>
                  <a:srgbClr val="6B88A8"/>
                </a:solidFill>
                <a:latin typeface="Calibri" pitchFamily="34" charset="0"/>
                <a:ea typeface="Calibri" pitchFamily="34" charset="-122"/>
                <a:cs typeface="Calibri" pitchFamily="34" charset="-120"/>
              </a:rPr>
              <a:t>Universidad Externado de Colombia  ·  2026</a:t>
            </a:r>
            <a:endParaRPr lang="en-US" sz="1100" dirty="0"/>
          </a:p>
        </p:txBody>
      </p:sp>
      <p:sp>
        <p:nvSpPr>
          <p:cNvPr id="9" name="Shape 7"/>
          <p:cNvSpPr/>
          <p:nvPr/>
        </p:nvSpPr>
        <p:spPr>
          <a:xfrm>
            <a:off x="274320" y="4069080"/>
            <a:ext cx="2011680" cy="822960"/>
          </a:xfrm>
          <a:prstGeom prst="rect">
            <a:avLst/>
          </a:prstGeom>
          <a:solidFill>
            <a:srgbClr val="162A44"/>
          </a:solidFill>
          <a:ln w="12700">
            <a:solidFill>
              <a:srgbClr val="162A44"/>
            </a:solidFill>
            <a:prstDash val="solid"/>
          </a:ln>
        </p:spPr>
      </p:sp>
      <p:sp>
        <p:nvSpPr>
          <p:cNvPr id="10" name="Text 8"/>
          <p:cNvSpPr/>
          <p:nvPr/>
        </p:nvSpPr>
        <p:spPr>
          <a:xfrm>
            <a:off x="274320" y="4142232"/>
            <a:ext cx="2011680" cy="452628"/>
          </a:xfrm>
          <a:prstGeom prst="rect">
            <a:avLst/>
          </a:prstGeom>
          <a:noFill/>
          <a:ln/>
        </p:spPr>
        <p:txBody>
          <a:bodyPr wrap="square" lIns="0" tIns="0" rIns="0" bIns="0" rtlCol="0" anchor="b"/>
          <a:lstStyle/>
          <a:p>
            <a:pPr algn="ctr" indent="0" marL="0">
              <a:buNone/>
            </a:pPr>
            <a:r>
              <a:rPr lang="en-US" sz="3600" b="1" dirty="0">
                <a:solidFill>
                  <a:srgbClr val="F7B731"/>
                </a:solidFill>
                <a:latin typeface="Calibri" pitchFamily="34" charset="0"/>
                <a:ea typeface="Calibri" pitchFamily="34" charset="-122"/>
                <a:cs typeface="Calibri" pitchFamily="34" charset="-120"/>
              </a:rPr>
              <a:t>16.957</a:t>
            </a:r>
            <a:endParaRPr lang="en-US" sz="3600" dirty="0"/>
          </a:p>
        </p:txBody>
      </p:sp>
      <p:sp>
        <p:nvSpPr>
          <p:cNvPr id="11" name="Text 9"/>
          <p:cNvSpPr/>
          <p:nvPr/>
        </p:nvSpPr>
        <p:spPr>
          <a:xfrm>
            <a:off x="274320" y="4546397"/>
            <a:ext cx="2011680" cy="312725"/>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hogares observados</a:t>
            </a:r>
            <a:endParaRPr lang="en-US" sz="1100" dirty="0"/>
          </a:p>
        </p:txBody>
      </p:sp>
      <p:sp>
        <p:nvSpPr>
          <p:cNvPr id="12" name="Shape 10"/>
          <p:cNvSpPr/>
          <p:nvPr/>
        </p:nvSpPr>
        <p:spPr>
          <a:xfrm>
            <a:off x="2468880" y="4069080"/>
            <a:ext cx="2011680" cy="822960"/>
          </a:xfrm>
          <a:prstGeom prst="rect">
            <a:avLst/>
          </a:prstGeom>
          <a:solidFill>
            <a:srgbClr val="162A44"/>
          </a:solidFill>
          <a:ln w="12700">
            <a:solidFill>
              <a:srgbClr val="162A44"/>
            </a:solidFill>
            <a:prstDash val="solid"/>
          </a:ln>
        </p:spPr>
      </p:sp>
      <p:sp>
        <p:nvSpPr>
          <p:cNvPr id="13" name="Text 11"/>
          <p:cNvSpPr/>
          <p:nvPr/>
        </p:nvSpPr>
        <p:spPr>
          <a:xfrm>
            <a:off x="2468880" y="4142232"/>
            <a:ext cx="2011680" cy="452628"/>
          </a:xfrm>
          <a:prstGeom prst="rect">
            <a:avLst/>
          </a:prstGeom>
          <a:noFill/>
          <a:ln/>
        </p:spPr>
        <p:txBody>
          <a:bodyPr wrap="square" lIns="0" tIns="0" rIns="0" bIns="0" rtlCol="0" anchor="b"/>
          <a:lstStyle/>
          <a:p>
            <a:pPr algn="ctr" indent="0" marL="0">
              <a:buNone/>
            </a:pPr>
            <a:r>
              <a:rPr lang="en-US" sz="3600" b="1" dirty="0">
                <a:solidFill>
                  <a:srgbClr val="F7B731"/>
                </a:solidFill>
                <a:latin typeface="Calibri" pitchFamily="34" charset="0"/>
                <a:ea typeface="Calibri" pitchFamily="34" charset="-122"/>
                <a:cs typeface="Calibri" pitchFamily="34" charset="-120"/>
              </a:rPr>
              <a:t>3 rondas</a:t>
            </a:r>
            <a:endParaRPr lang="en-US" sz="3600" dirty="0"/>
          </a:p>
        </p:txBody>
      </p:sp>
      <p:sp>
        <p:nvSpPr>
          <p:cNvPr id="14" name="Text 12"/>
          <p:cNvSpPr/>
          <p:nvPr/>
        </p:nvSpPr>
        <p:spPr>
          <a:xfrm>
            <a:off x="2468880" y="4546397"/>
            <a:ext cx="2011680" cy="312725"/>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2010 · 2013 · 2016</a:t>
            </a:r>
            <a:endParaRPr lang="en-US" sz="1100" dirty="0"/>
          </a:p>
        </p:txBody>
      </p:sp>
      <p:sp>
        <p:nvSpPr>
          <p:cNvPr id="15" name="Shape 13"/>
          <p:cNvSpPr/>
          <p:nvPr/>
        </p:nvSpPr>
        <p:spPr>
          <a:xfrm>
            <a:off x="4663440" y="4069080"/>
            <a:ext cx="2011680" cy="822960"/>
          </a:xfrm>
          <a:prstGeom prst="rect">
            <a:avLst/>
          </a:prstGeom>
          <a:solidFill>
            <a:srgbClr val="162A44"/>
          </a:solidFill>
          <a:ln w="12700">
            <a:solidFill>
              <a:srgbClr val="162A44"/>
            </a:solidFill>
            <a:prstDash val="solid"/>
          </a:ln>
        </p:spPr>
      </p:sp>
      <p:sp>
        <p:nvSpPr>
          <p:cNvPr id="16" name="Text 14"/>
          <p:cNvSpPr/>
          <p:nvPr/>
        </p:nvSpPr>
        <p:spPr>
          <a:xfrm>
            <a:off x="4663440" y="4142232"/>
            <a:ext cx="2011680" cy="452628"/>
          </a:xfrm>
          <a:prstGeom prst="rect">
            <a:avLst/>
          </a:prstGeom>
          <a:noFill/>
          <a:ln/>
        </p:spPr>
        <p:txBody>
          <a:bodyPr wrap="square" lIns="0" tIns="0" rIns="0" bIns="0" rtlCol="0" anchor="b"/>
          <a:lstStyle/>
          <a:p>
            <a:pPr algn="ctr" indent="0" marL="0">
              <a:buNone/>
            </a:pPr>
            <a:r>
              <a:rPr lang="en-US" sz="3600" b="1" dirty="0">
                <a:solidFill>
                  <a:srgbClr val="F7B731"/>
                </a:solidFill>
                <a:latin typeface="Calibri" pitchFamily="34" charset="0"/>
                <a:ea typeface="Calibri" pitchFamily="34" charset="-122"/>
                <a:cs typeface="Calibri" pitchFamily="34" charset="-120"/>
              </a:rPr>
              <a:t>4 modelos</a:t>
            </a:r>
            <a:endParaRPr lang="en-US" sz="3600" dirty="0"/>
          </a:p>
        </p:txBody>
      </p:sp>
      <p:sp>
        <p:nvSpPr>
          <p:cNvPr id="17" name="Text 15"/>
          <p:cNvSpPr/>
          <p:nvPr/>
        </p:nvSpPr>
        <p:spPr>
          <a:xfrm>
            <a:off x="4663440" y="4546397"/>
            <a:ext cx="2011680" cy="312725"/>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comparados con CV</a:t>
            </a:r>
            <a:endParaRPr lang="en-US" sz="1100" dirty="0"/>
          </a:p>
        </p:txBody>
      </p:sp>
      <p:sp>
        <p:nvSpPr>
          <p:cNvPr id="18" name="Shape 16"/>
          <p:cNvSpPr/>
          <p:nvPr/>
        </p:nvSpPr>
        <p:spPr>
          <a:xfrm>
            <a:off x="6858000" y="4069080"/>
            <a:ext cx="2011680" cy="822960"/>
          </a:xfrm>
          <a:prstGeom prst="rect">
            <a:avLst/>
          </a:prstGeom>
          <a:solidFill>
            <a:srgbClr val="162A44"/>
          </a:solidFill>
          <a:ln w="12700">
            <a:solidFill>
              <a:srgbClr val="162A44"/>
            </a:solidFill>
            <a:prstDash val="solid"/>
          </a:ln>
        </p:spPr>
      </p:sp>
      <p:sp>
        <p:nvSpPr>
          <p:cNvPr id="19" name="Text 17"/>
          <p:cNvSpPr/>
          <p:nvPr/>
        </p:nvSpPr>
        <p:spPr>
          <a:xfrm>
            <a:off x="6858000" y="4142232"/>
            <a:ext cx="2011680" cy="452628"/>
          </a:xfrm>
          <a:prstGeom prst="rect">
            <a:avLst/>
          </a:prstGeom>
          <a:noFill/>
          <a:ln/>
        </p:spPr>
        <p:txBody>
          <a:bodyPr wrap="square" lIns="0" tIns="0" rIns="0" bIns="0" rtlCol="0" anchor="b"/>
          <a:lstStyle/>
          <a:p>
            <a:pPr algn="ctr" indent="0" marL="0">
              <a:buNone/>
            </a:pPr>
            <a:r>
              <a:rPr lang="en-US" sz="3600" b="1" dirty="0">
                <a:solidFill>
                  <a:srgbClr val="F7B731"/>
                </a:solidFill>
                <a:latin typeface="Calibri" pitchFamily="34" charset="0"/>
                <a:ea typeface="Calibri" pitchFamily="34" charset="-122"/>
                <a:cs typeface="Calibri" pitchFamily="34" charset="-120"/>
              </a:rPr>
              <a:t>AUC 0.92</a:t>
            </a:r>
            <a:endParaRPr lang="en-US" sz="3600" dirty="0"/>
          </a:p>
        </p:txBody>
      </p:sp>
      <p:sp>
        <p:nvSpPr>
          <p:cNvPr id="20" name="Text 18"/>
          <p:cNvSpPr/>
          <p:nvPr/>
        </p:nvSpPr>
        <p:spPr>
          <a:xfrm>
            <a:off x="6858000" y="4546397"/>
            <a:ext cx="2011680" cy="312725"/>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XGBoost campeón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365760" y="182880"/>
            <a:ext cx="1371600" cy="256032"/>
          </a:xfrm>
          <a:prstGeom prst="rect">
            <a:avLst>
              <a:gd name="adj" fmla="val 14286"/>
            </a:avLst>
          </a:prstGeom>
          <a:solidFill>
            <a:srgbClr val="1F4E79"/>
          </a:solidFill>
          <a:ln w="12700">
            <a:solidFill>
              <a:srgbClr val="1F4E79"/>
            </a:solidFill>
            <a:prstDash val="solid"/>
          </a:ln>
        </p:spPr>
      </p:sp>
      <p:sp>
        <p:nvSpPr>
          <p:cNvPr id="3" name="Text 1"/>
          <p:cNvSpPr/>
          <p:nvPr/>
        </p:nvSpPr>
        <p:spPr>
          <a:xfrm>
            <a:off x="365760" y="182880"/>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EL PROBLEMA</a:t>
            </a:r>
            <a:endParaRPr lang="en-US" sz="1000" dirty="0"/>
          </a:p>
        </p:txBody>
      </p:sp>
      <p:sp>
        <p:nvSpPr>
          <p:cNvPr id="4" name="Text 2"/>
          <p:cNvSpPr/>
          <p:nvPr/>
        </p:nvSpPr>
        <p:spPr>
          <a:xfrm>
            <a:off x="365760" y="530352"/>
            <a:ext cx="5303520" cy="1463040"/>
          </a:xfrm>
          <a:prstGeom prst="rect">
            <a:avLst/>
          </a:prstGeom>
          <a:noFill/>
          <a:ln/>
        </p:spPr>
        <p:txBody>
          <a:bodyPr wrap="square" rtlCol="0" anchor="ctr"/>
          <a:lstStyle/>
          <a:p>
            <a:pPr indent="0" marL="0">
              <a:lnSpc>
                <a:spcPct val="115000"/>
              </a:lnSpc>
              <a:buNone/>
            </a:pPr>
            <a:r>
              <a:rPr lang="en-US" sz="2400" b="1" dirty="0">
                <a:solidFill>
                  <a:srgbClr val="0F2D54"/>
                </a:solidFill>
                <a:latin typeface="Calibri" pitchFamily="34" charset="0"/>
                <a:ea typeface="Calibri" pitchFamily="34" charset="-122"/>
                <a:cs typeface="Calibri" pitchFamily="34" charset="-120"/>
              </a:rPr>
              <a:t>El 77% de los hogares colombianos</a:t>
            </a:r>
            <a:endParaRPr lang="en-US" sz="2400" dirty="0"/>
          </a:p>
          <a:p>
            <a:pPr indent="0" marL="0">
              <a:lnSpc>
                <a:spcPct val="115000"/>
              </a:lnSpc>
              <a:buNone/>
            </a:pPr>
            <a:r>
              <a:rPr lang="en-US" sz="2400" b="1" dirty="0">
                <a:solidFill>
                  <a:srgbClr val="0F2D54"/>
                </a:solidFill>
                <a:latin typeface="Calibri" pitchFamily="34" charset="0"/>
                <a:ea typeface="Calibri" pitchFamily="34" charset="-122"/>
                <a:cs typeface="Calibri" pitchFamily="34" charset="-120"/>
              </a:rPr>
              <a:t>no cambia de estado — la privación</a:t>
            </a:r>
            <a:endParaRPr lang="en-US" sz="2400" dirty="0"/>
          </a:p>
          <a:p>
            <a:pPr indent="0" marL="0">
              <a:lnSpc>
                <a:spcPct val="115000"/>
              </a:lnSpc>
              <a:buNone/>
            </a:pPr>
            <a:r>
              <a:rPr lang="en-US" sz="2400" b="1" dirty="0">
                <a:solidFill>
                  <a:srgbClr val="0F2D54"/>
                </a:solidFill>
                <a:latin typeface="Calibri" pitchFamily="34" charset="0"/>
                <a:ea typeface="Calibri" pitchFamily="34" charset="-122"/>
                <a:cs typeface="Calibri" pitchFamily="34" charset="-120"/>
              </a:rPr>
              <a:t>es una trampa, no un evento</a:t>
            </a:r>
            <a:endParaRPr lang="en-US" sz="2400" dirty="0"/>
          </a:p>
        </p:txBody>
      </p:sp>
      <p:sp>
        <p:nvSpPr>
          <p:cNvPr id="5" name="Text 3"/>
          <p:cNvSpPr/>
          <p:nvPr/>
        </p:nvSpPr>
        <p:spPr>
          <a:xfrm>
            <a:off x="365760" y="2103120"/>
            <a:ext cx="5120640" cy="822960"/>
          </a:xfrm>
          <a:prstGeom prst="rect">
            <a:avLst/>
          </a:prstGeom>
          <a:noFill/>
          <a:ln/>
        </p:spPr>
        <p:txBody>
          <a:bodyPr wrap="square" rtlCol="0" anchor="ctr"/>
          <a:lstStyle/>
          <a:p>
            <a:pPr indent="0" marL="0">
              <a:lnSpc>
                <a:spcPct val="130000"/>
              </a:lnSpc>
              <a:buNone/>
            </a:pPr>
            <a:r>
              <a:rPr lang="en-US" sz="1200" dirty="0">
                <a:solidFill>
                  <a:srgbClr val="64748B"/>
                </a:solidFill>
                <a:latin typeface="Calibri" pitchFamily="34" charset="0"/>
                <a:ea typeface="Calibri" pitchFamily="34" charset="-122"/>
                <a:cs typeface="Calibri" pitchFamily="34" charset="-120"/>
              </a:rPr>
              <a:t>La Encuesta Longitudinal Colombiana (ELCA) siguió los mismos hogares en 2010, 2013 y 2016. Eso permite ver no solo quién es pobre hoy, sino qué le pasa con el tiempo. El resultado es contundente:</a:t>
            </a:r>
            <a:endParaRPr lang="en-US" sz="1200" dirty="0"/>
          </a:p>
        </p:txBody>
      </p:sp>
      <p:graphicFrame>
        <p:nvGraphicFramePr>
          <p:cNvPr id="6" name="Chart 0" descr=""/>
          <p:cNvGraphicFramePr/>
          <p:nvPr/>
        </p:nvGraphicFramePr>
        <p:xfrm>
          <a:off x="274320" y="3017520"/>
          <a:ext cx="5486400" cy="19202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035040" y="594360"/>
            <a:ext cx="2834640" cy="960120"/>
          </a:xfrm>
          <a:prstGeom prst="rect">
            <a:avLst/>
          </a:prstGeom>
          <a:solidFill>
            <a:srgbClr val="FFFFFF"/>
          </a:solidFill>
          <a:ln w="12700">
            <a:solidFill>
              <a:srgbClr val="FFFFFF"/>
            </a:solidFill>
            <a:prstDash val="solid"/>
          </a:ln>
        </p:spPr>
      </p:sp>
      <p:sp>
        <p:nvSpPr>
          <p:cNvPr id="8" name="Text 5"/>
          <p:cNvSpPr/>
          <p:nvPr/>
        </p:nvSpPr>
        <p:spPr>
          <a:xfrm>
            <a:off x="6035040" y="667512"/>
            <a:ext cx="2834640" cy="528066"/>
          </a:xfrm>
          <a:prstGeom prst="rect">
            <a:avLst/>
          </a:prstGeom>
          <a:noFill/>
          <a:ln/>
        </p:spPr>
        <p:txBody>
          <a:bodyPr wrap="square" lIns="0" tIns="0" rIns="0" bIns="0" rtlCol="0" anchor="b"/>
          <a:lstStyle/>
          <a:p>
            <a:pPr algn="ctr" indent="0" marL="0">
              <a:buNone/>
            </a:pPr>
            <a:r>
              <a:rPr lang="en-US" sz="3600" b="1" dirty="0">
                <a:solidFill>
                  <a:srgbClr val="2E86AB"/>
                </a:solidFill>
                <a:latin typeface="Calibri" pitchFamily="34" charset="0"/>
                <a:ea typeface="Calibri" pitchFamily="34" charset="-122"/>
                <a:cs typeface="Calibri" pitchFamily="34" charset="-120"/>
              </a:rPr>
              <a:t>48.2%</a:t>
            </a:r>
            <a:endParaRPr lang="en-US" sz="3600" dirty="0"/>
          </a:p>
        </p:txBody>
      </p:sp>
      <p:sp>
        <p:nvSpPr>
          <p:cNvPr id="9" name="Text 6"/>
          <p:cNvSpPr/>
          <p:nvPr/>
        </p:nvSpPr>
        <p:spPr>
          <a:xfrm>
            <a:off x="6035040" y="1151230"/>
            <a:ext cx="2834640" cy="364846"/>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Estable — sin privación en ambos periodos</a:t>
            </a:r>
            <a:endParaRPr lang="en-US" sz="1100" dirty="0"/>
          </a:p>
        </p:txBody>
      </p:sp>
      <p:sp>
        <p:nvSpPr>
          <p:cNvPr id="10" name="Shape 7"/>
          <p:cNvSpPr/>
          <p:nvPr/>
        </p:nvSpPr>
        <p:spPr>
          <a:xfrm>
            <a:off x="6035040" y="1664208"/>
            <a:ext cx="2834640" cy="960120"/>
          </a:xfrm>
          <a:prstGeom prst="rect">
            <a:avLst/>
          </a:prstGeom>
          <a:solidFill>
            <a:srgbClr val="FFFFFF"/>
          </a:solidFill>
          <a:ln w="12700">
            <a:solidFill>
              <a:srgbClr val="FFFFFF"/>
            </a:solidFill>
            <a:prstDash val="solid"/>
          </a:ln>
        </p:spPr>
      </p:sp>
      <p:sp>
        <p:nvSpPr>
          <p:cNvPr id="11" name="Text 8"/>
          <p:cNvSpPr/>
          <p:nvPr/>
        </p:nvSpPr>
        <p:spPr>
          <a:xfrm>
            <a:off x="6035040" y="1737360"/>
            <a:ext cx="2834640" cy="528066"/>
          </a:xfrm>
          <a:prstGeom prst="rect">
            <a:avLst/>
          </a:prstGeom>
          <a:noFill/>
          <a:ln/>
        </p:spPr>
        <p:txBody>
          <a:bodyPr wrap="square" lIns="0" tIns="0" rIns="0" bIns="0" rtlCol="0" anchor="b"/>
          <a:lstStyle/>
          <a:p>
            <a:pPr algn="ctr" indent="0" marL="0">
              <a:buNone/>
            </a:pPr>
            <a:r>
              <a:rPr lang="en-US" sz="3600" b="1" dirty="0">
                <a:solidFill>
                  <a:srgbClr val="E84855"/>
                </a:solidFill>
                <a:latin typeface="Calibri" pitchFamily="34" charset="0"/>
                <a:ea typeface="Calibri" pitchFamily="34" charset="-122"/>
                <a:cs typeface="Calibri" pitchFamily="34" charset="-120"/>
              </a:rPr>
              <a:t>29.3%</a:t>
            </a:r>
            <a:endParaRPr lang="en-US" sz="3600" dirty="0"/>
          </a:p>
        </p:txBody>
      </p:sp>
      <p:sp>
        <p:nvSpPr>
          <p:cNvPr id="12" name="Text 9"/>
          <p:cNvSpPr/>
          <p:nvPr/>
        </p:nvSpPr>
        <p:spPr>
          <a:xfrm>
            <a:off x="6035040" y="2221078"/>
            <a:ext cx="2834640" cy="364846"/>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Crónico — con privación en ambos periodos</a:t>
            </a:r>
            <a:endParaRPr lang="en-US" sz="1100" dirty="0"/>
          </a:p>
        </p:txBody>
      </p:sp>
      <p:sp>
        <p:nvSpPr>
          <p:cNvPr id="13" name="Shape 10"/>
          <p:cNvSpPr/>
          <p:nvPr/>
        </p:nvSpPr>
        <p:spPr>
          <a:xfrm>
            <a:off x="6035040" y="2734056"/>
            <a:ext cx="2834640" cy="960120"/>
          </a:xfrm>
          <a:prstGeom prst="rect">
            <a:avLst/>
          </a:prstGeom>
          <a:solidFill>
            <a:srgbClr val="FFFFFF"/>
          </a:solidFill>
          <a:ln w="12700">
            <a:solidFill>
              <a:srgbClr val="FFFFFF"/>
            </a:solidFill>
            <a:prstDash val="solid"/>
          </a:ln>
        </p:spPr>
      </p:sp>
      <p:sp>
        <p:nvSpPr>
          <p:cNvPr id="14" name="Text 11"/>
          <p:cNvSpPr/>
          <p:nvPr/>
        </p:nvSpPr>
        <p:spPr>
          <a:xfrm>
            <a:off x="6035040" y="2807208"/>
            <a:ext cx="2834640" cy="528066"/>
          </a:xfrm>
          <a:prstGeom prst="rect">
            <a:avLst/>
          </a:prstGeom>
          <a:noFill/>
          <a:ln/>
        </p:spPr>
        <p:txBody>
          <a:bodyPr wrap="square" lIns="0" tIns="0" rIns="0" bIns="0" rtlCol="0" anchor="b"/>
          <a:lstStyle/>
          <a:p>
            <a:pPr algn="ctr" indent="0" marL="0">
              <a:buNone/>
            </a:pPr>
            <a:r>
              <a:rPr lang="en-US" sz="3600" b="1" dirty="0">
                <a:solidFill>
                  <a:srgbClr val="3BB273"/>
                </a:solidFill>
                <a:latin typeface="Calibri" pitchFamily="34" charset="0"/>
                <a:ea typeface="Calibri" pitchFamily="34" charset="-122"/>
                <a:cs typeface="Calibri" pitchFamily="34" charset="-120"/>
              </a:rPr>
              <a:t>12.0%</a:t>
            </a:r>
            <a:endParaRPr lang="en-US" sz="3600" dirty="0"/>
          </a:p>
        </p:txBody>
      </p:sp>
      <p:sp>
        <p:nvSpPr>
          <p:cNvPr id="15" name="Text 12"/>
          <p:cNvSpPr/>
          <p:nvPr/>
        </p:nvSpPr>
        <p:spPr>
          <a:xfrm>
            <a:off x="6035040" y="3290926"/>
            <a:ext cx="2834640" cy="364846"/>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Movilidad ascendente — salió de la privación</a:t>
            </a:r>
            <a:endParaRPr lang="en-US" sz="1100" dirty="0"/>
          </a:p>
        </p:txBody>
      </p:sp>
      <p:sp>
        <p:nvSpPr>
          <p:cNvPr id="16" name="Shape 13"/>
          <p:cNvSpPr/>
          <p:nvPr/>
        </p:nvSpPr>
        <p:spPr>
          <a:xfrm>
            <a:off x="6035040" y="3803904"/>
            <a:ext cx="2834640" cy="960120"/>
          </a:xfrm>
          <a:prstGeom prst="rect">
            <a:avLst/>
          </a:prstGeom>
          <a:solidFill>
            <a:srgbClr val="FFFFFF"/>
          </a:solidFill>
          <a:ln w="12700">
            <a:solidFill>
              <a:srgbClr val="FFFFFF"/>
            </a:solidFill>
            <a:prstDash val="solid"/>
          </a:ln>
        </p:spPr>
      </p:sp>
      <p:sp>
        <p:nvSpPr>
          <p:cNvPr id="17" name="Text 14"/>
          <p:cNvSpPr/>
          <p:nvPr/>
        </p:nvSpPr>
        <p:spPr>
          <a:xfrm>
            <a:off x="6035040" y="3877056"/>
            <a:ext cx="2834640" cy="528066"/>
          </a:xfrm>
          <a:prstGeom prst="rect">
            <a:avLst/>
          </a:prstGeom>
          <a:noFill/>
          <a:ln/>
        </p:spPr>
        <p:txBody>
          <a:bodyPr wrap="square" lIns="0" tIns="0" rIns="0" bIns="0" rtlCol="0" anchor="b"/>
          <a:lstStyle/>
          <a:p>
            <a:pPr algn="ctr" indent="0" marL="0">
              <a:buNone/>
            </a:pPr>
            <a:r>
              <a:rPr lang="en-US" sz="3600" b="1" dirty="0">
                <a:solidFill>
                  <a:srgbClr val="F7B731"/>
                </a:solidFill>
                <a:latin typeface="Calibri" pitchFamily="34" charset="0"/>
                <a:ea typeface="Calibri" pitchFamily="34" charset="-122"/>
                <a:cs typeface="Calibri" pitchFamily="34" charset="-120"/>
              </a:rPr>
              <a:t>10.5%</a:t>
            </a:r>
            <a:endParaRPr lang="en-US" sz="3600" dirty="0"/>
          </a:p>
        </p:txBody>
      </p:sp>
      <p:sp>
        <p:nvSpPr>
          <p:cNvPr id="18" name="Text 15"/>
          <p:cNvSpPr/>
          <p:nvPr/>
        </p:nvSpPr>
        <p:spPr>
          <a:xfrm>
            <a:off x="6035040" y="4360774"/>
            <a:ext cx="2834640" cy="364846"/>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Vulnerable — cayó en privación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82880"/>
            <a:ext cx="1645920" cy="256032"/>
          </a:xfrm>
          <a:prstGeom prst="rect">
            <a:avLst>
              <a:gd name="adj" fmla="val 14286"/>
            </a:avLst>
          </a:prstGeom>
          <a:solidFill>
            <a:srgbClr val="2E86AB"/>
          </a:solidFill>
          <a:ln w="12700">
            <a:solidFill>
              <a:srgbClr val="2E86AB"/>
            </a:solidFill>
            <a:prstDash val="solid"/>
          </a:ln>
        </p:spPr>
      </p:sp>
      <p:sp>
        <p:nvSpPr>
          <p:cNvPr id="3" name="Text 1"/>
          <p:cNvSpPr/>
          <p:nvPr/>
        </p:nvSpPr>
        <p:spPr>
          <a:xfrm>
            <a:off x="365760" y="182880"/>
            <a:ext cx="16459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EL ÍNDICE: IPBH</a:t>
            </a:r>
            <a:endParaRPr lang="en-US" sz="1000" dirty="0"/>
          </a:p>
        </p:txBody>
      </p:sp>
      <p:sp>
        <p:nvSpPr>
          <p:cNvPr id="4" name="Text 2"/>
          <p:cNvSpPr/>
          <p:nvPr/>
        </p:nvSpPr>
        <p:spPr>
          <a:xfrm>
            <a:off x="365760" y="530352"/>
            <a:ext cx="8412480" cy="914400"/>
          </a:xfrm>
          <a:prstGeom prst="rect">
            <a:avLst/>
          </a:prstGeom>
          <a:noFill/>
          <a:ln/>
        </p:spPr>
        <p:txBody>
          <a:bodyPr wrap="square" rtlCol="0" anchor="ctr"/>
          <a:lstStyle/>
          <a:p>
            <a:pPr indent="0" marL="0">
              <a:lnSpc>
                <a:spcPct val="110000"/>
              </a:lnSpc>
              <a:buNone/>
            </a:pPr>
            <a:r>
              <a:rPr lang="en-US" sz="2600" b="1" dirty="0">
                <a:solidFill>
                  <a:srgbClr val="0F2D54"/>
                </a:solidFill>
                <a:latin typeface="Calibri" pitchFamily="34" charset="0"/>
                <a:ea typeface="Calibri" pitchFamily="34" charset="-122"/>
                <a:cs typeface="Calibri" pitchFamily="34" charset="-120"/>
              </a:rPr>
              <a:t>Medimos privación en las 3 dimensiones</a:t>
            </a:r>
            <a:endParaRPr lang="en-US" sz="2600" dirty="0"/>
          </a:p>
          <a:p>
            <a:pPr indent="0" marL="0">
              <a:lnSpc>
                <a:spcPct val="110000"/>
              </a:lnSpc>
              <a:buNone/>
            </a:pPr>
            <a:r>
              <a:rPr lang="en-US" sz="2600" b="1" dirty="0">
                <a:solidFill>
                  <a:srgbClr val="0F2D54"/>
                </a:solidFill>
                <a:latin typeface="Calibri" pitchFamily="34" charset="0"/>
                <a:ea typeface="Calibri" pitchFamily="34" charset="-122"/>
                <a:cs typeface="Calibri" pitchFamily="34" charset="-120"/>
              </a:rPr>
              <a:t>disponibles en la ELCA</a:t>
            </a:r>
            <a:endParaRPr lang="en-US" sz="2600" dirty="0"/>
          </a:p>
        </p:txBody>
      </p:sp>
      <p:sp>
        <p:nvSpPr>
          <p:cNvPr id="5" name="Text 3"/>
          <p:cNvSpPr/>
          <p:nvPr/>
        </p:nvSpPr>
        <p:spPr>
          <a:xfrm>
            <a:off x="365760" y="1508760"/>
            <a:ext cx="8412480" cy="50292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El IPM oficial requiere 15 indicadores en 5 dimensiones. La ELCA no tiene niñez ni trabajo disponibles. Construimos un índice honesto con lo que sí podíamos medir.</a:t>
            </a:r>
            <a:endParaRPr lang="en-US" sz="1200" dirty="0"/>
          </a:p>
        </p:txBody>
      </p:sp>
      <p:sp>
        <p:nvSpPr>
          <p:cNvPr id="6" name="Shape 4"/>
          <p:cNvSpPr/>
          <p:nvPr/>
        </p:nvSpPr>
        <p:spPr>
          <a:xfrm>
            <a:off x="365760" y="2148840"/>
            <a:ext cx="2743200" cy="2560320"/>
          </a:xfrm>
          <a:prstGeom prst="rect">
            <a:avLst/>
          </a:prstGeom>
          <a:solidFill>
            <a:srgbClr val="F4F7FA"/>
          </a:solidFill>
          <a:ln w="12700">
            <a:solidFill>
              <a:srgbClr val="E2E8F0"/>
            </a:solidFill>
            <a:prstDash val="solid"/>
          </a:ln>
        </p:spPr>
      </p:sp>
      <p:sp>
        <p:nvSpPr>
          <p:cNvPr id="7" name="Shape 5"/>
          <p:cNvSpPr/>
          <p:nvPr/>
        </p:nvSpPr>
        <p:spPr>
          <a:xfrm>
            <a:off x="365760" y="2148840"/>
            <a:ext cx="2743200" cy="73152"/>
          </a:xfrm>
          <a:prstGeom prst="rect">
            <a:avLst/>
          </a:prstGeom>
          <a:solidFill>
            <a:srgbClr val="2E86AB"/>
          </a:solidFill>
          <a:ln w="12700">
            <a:solidFill>
              <a:srgbClr val="2E86AB"/>
            </a:solidFill>
            <a:prstDash val="solid"/>
          </a:ln>
        </p:spPr>
      </p:sp>
      <p:sp>
        <p:nvSpPr>
          <p:cNvPr id="8" name="Text 6"/>
          <p:cNvSpPr/>
          <p:nvPr/>
        </p:nvSpPr>
        <p:spPr>
          <a:xfrm>
            <a:off x="365760" y="2286000"/>
            <a:ext cx="2743200" cy="320040"/>
          </a:xfrm>
          <a:prstGeom prst="rect">
            <a:avLst/>
          </a:prstGeom>
          <a:noFill/>
          <a:ln/>
        </p:spPr>
        <p:txBody>
          <a:bodyPr wrap="square" lIns="0" tIns="0" rIns="0" bIns="0" rtlCol="0" anchor="ctr"/>
          <a:lstStyle/>
          <a:p>
            <a:pPr algn="ctr" indent="0" marL="0">
              <a:buNone/>
            </a:pPr>
            <a:r>
              <a:rPr lang="en-US" sz="1300" b="1" dirty="0">
                <a:solidFill>
                  <a:srgbClr val="2E86AB"/>
                </a:solidFill>
                <a:latin typeface="Calibri" pitchFamily="34" charset="0"/>
                <a:ea typeface="Calibri" pitchFamily="34" charset="-122"/>
                <a:cs typeface="Calibri" pitchFamily="34" charset="-120"/>
              </a:rPr>
              <a:t>EDUCACIÓN</a:t>
            </a:r>
            <a:endParaRPr lang="en-US" sz="1300" dirty="0"/>
          </a:p>
        </p:txBody>
      </p:sp>
      <p:sp>
        <p:nvSpPr>
          <p:cNvPr id="9" name="Text 7"/>
          <p:cNvSpPr/>
          <p:nvPr/>
        </p:nvSpPr>
        <p:spPr>
          <a:xfrm>
            <a:off x="502920" y="2743200"/>
            <a:ext cx="2468880" cy="731520"/>
          </a:xfrm>
          <a:prstGeom prst="rect">
            <a:avLst/>
          </a:prstGeom>
          <a:noFill/>
          <a:ln/>
        </p:spPr>
        <p:txBody>
          <a:bodyPr wrap="square" rtlCol="0" anchor="ctr"/>
          <a:lstStyle/>
          <a:p>
            <a:pPr algn="ctr" indent="0" marL="0">
              <a:lnSpc>
                <a:spcPct val="120000"/>
              </a:lnSpc>
              <a:buNone/>
            </a:pPr>
            <a:r>
              <a:rPr lang="en-US" sz="1100" dirty="0">
                <a:solidFill>
                  <a:srgbClr val="64748B"/>
                </a:solidFill>
                <a:latin typeface="Calibri" pitchFamily="34" charset="0"/>
                <a:ea typeface="Calibri" pitchFamily="34" charset="-122"/>
                <a:cs typeface="Calibri" pitchFamily="34" charset="-120"/>
              </a:rPr>
              <a:t>Jefe del hogar sin primaria completa</a:t>
            </a:r>
            <a:endParaRPr lang="en-US" sz="1100" dirty="0"/>
          </a:p>
        </p:txBody>
      </p:sp>
      <p:sp>
        <p:nvSpPr>
          <p:cNvPr id="10" name="Text 8"/>
          <p:cNvSpPr/>
          <p:nvPr/>
        </p:nvSpPr>
        <p:spPr>
          <a:xfrm>
            <a:off x="365760" y="3611880"/>
            <a:ext cx="2743200" cy="594360"/>
          </a:xfrm>
          <a:prstGeom prst="rect">
            <a:avLst/>
          </a:prstGeom>
          <a:noFill/>
          <a:ln/>
        </p:spPr>
        <p:txBody>
          <a:bodyPr wrap="square" lIns="0" tIns="0" rIns="0" bIns="0" rtlCol="0" anchor="ctr"/>
          <a:lstStyle/>
          <a:p>
            <a:pPr algn="ctr" indent="0" marL="0">
              <a:buNone/>
            </a:pPr>
            <a:r>
              <a:rPr lang="en-US" sz="3200" b="1" dirty="0">
                <a:solidFill>
                  <a:srgbClr val="2E86AB"/>
                </a:solidFill>
                <a:latin typeface="Calibri" pitchFamily="34" charset="0"/>
                <a:ea typeface="Calibri" pitchFamily="34" charset="-122"/>
                <a:cs typeface="Calibri" pitchFamily="34" charset="-120"/>
              </a:rPr>
              <a:t>10.2%</a:t>
            </a:r>
            <a:endParaRPr lang="en-US" sz="3200" dirty="0"/>
          </a:p>
        </p:txBody>
      </p:sp>
      <p:sp>
        <p:nvSpPr>
          <p:cNvPr id="11" name="Text 9"/>
          <p:cNvSpPr/>
          <p:nvPr/>
        </p:nvSpPr>
        <p:spPr>
          <a:xfrm>
            <a:off x="365760" y="4224528"/>
            <a:ext cx="274320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de hogares privados</a:t>
            </a:r>
            <a:endParaRPr lang="en-US" sz="1000" dirty="0"/>
          </a:p>
        </p:txBody>
      </p:sp>
      <p:sp>
        <p:nvSpPr>
          <p:cNvPr id="12" name="Shape 10"/>
          <p:cNvSpPr/>
          <p:nvPr/>
        </p:nvSpPr>
        <p:spPr>
          <a:xfrm>
            <a:off x="3291840" y="2148840"/>
            <a:ext cx="2743200" cy="2560320"/>
          </a:xfrm>
          <a:prstGeom prst="rect">
            <a:avLst/>
          </a:prstGeom>
          <a:solidFill>
            <a:srgbClr val="F4F7FA"/>
          </a:solidFill>
          <a:ln w="12700">
            <a:solidFill>
              <a:srgbClr val="E2E8F0"/>
            </a:solidFill>
            <a:prstDash val="solid"/>
          </a:ln>
        </p:spPr>
      </p:sp>
      <p:sp>
        <p:nvSpPr>
          <p:cNvPr id="13" name="Shape 11"/>
          <p:cNvSpPr/>
          <p:nvPr/>
        </p:nvSpPr>
        <p:spPr>
          <a:xfrm>
            <a:off x="3291840" y="2148840"/>
            <a:ext cx="2743200" cy="73152"/>
          </a:xfrm>
          <a:prstGeom prst="rect">
            <a:avLst/>
          </a:prstGeom>
          <a:solidFill>
            <a:srgbClr val="3BB273"/>
          </a:solidFill>
          <a:ln w="12700">
            <a:solidFill>
              <a:srgbClr val="3BB273"/>
            </a:solidFill>
            <a:prstDash val="solid"/>
          </a:ln>
        </p:spPr>
      </p:sp>
      <p:sp>
        <p:nvSpPr>
          <p:cNvPr id="14" name="Text 12"/>
          <p:cNvSpPr/>
          <p:nvPr/>
        </p:nvSpPr>
        <p:spPr>
          <a:xfrm>
            <a:off x="3291840" y="2286000"/>
            <a:ext cx="2743200" cy="320040"/>
          </a:xfrm>
          <a:prstGeom prst="rect">
            <a:avLst/>
          </a:prstGeom>
          <a:noFill/>
          <a:ln/>
        </p:spPr>
        <p:txBody>
          <a:bodyPr wrap="square" lIns="0" tIns="0" rIns="0" bIns="0" rtlCol="0" anchor="ctr"/>
          <a:lstStyle/>
          <a:p>
            <a:pPr algn="ctr" indent="0" marL="0">
              <a:buNone/>
            </a:pPr>
            <a:r>
              <a:rPr lang="en-US" sz="1300" b="1" dirty="0">
                <a:solidFill>
                  <a:srgbClr val="3BB273"/>
                </a:solidFill>
                <a:latin typeface="Calibri" pitchFamily="34" charset="0"/>
                <a:ea typeface="Calibri" pitchFamily="34" charset="-122"/>
                <a:cs typeface="Calibri" pitchFamily="34" charset="-120"/>
              </a:rPr>
              <a:t>SALUD</a:t>
            </a:r>
            <a:endParaRPr lang="en-US" sz="1300" dirty="0"/>
          </a:p>
        </p:txBody>
      </p:sp>
      <p:sp>
        <p:nvSpPr>
          <p:cNvPr id="15" name="Text 13"/>
          <p:cNvSpPr/>
          <p:nvPr/>
        </p:nvSpPr>
        <p:spPr>
          <a:xfrm>
            <a:off x="3429000" y="2743200"/>
            <a:ext cx="2468880" cy="731520"/>
          </a:xfrm>
          <a:prstGeom prst="rect">
            <a:avLst/>
          </a:prstGeom>
          <a:noFill/>
          <a:ln/>
        </p:spPr>
        <p:txBody>
          <a:bodyPr wrap="square" rtlCol="0" anchor="ctr"/>
          <a:lstStyle/>
          <a:p>
            <a:pPr algn="ctr" indent="0" marL="0">
              <a:lnSpc>
                <a:spcPct val="120000"/>
              </a:lnSpc>
              <a:buNone/>
            </a:pPr>
            <a:r>
              <a:rPr lang="en-US" sz="1100" dirty="0">
                <a:solidFill>
                  <a:srgbClr val="64748B"/>
                </a:solidFill>
                <a:latin typeface="Calibri" pitchFamily="34" charset="0"/>
                <a:ea typeface="Calibri" pitchFamily="34" charset="-122"/>
                <a:cs typeface="Calibri" pitchFamily="34" charset="-120"/>
              </a:rPr>
              <a:t>Hogar sin registro en el SISBEN (proxy de acceso)</a:t>
            </a:r>
            <a:endParaRPr lang="en-US" sz="1100" dirty="0"/>
          </a:p>
        </p:txBody>
      </p:sp>
      <p:sp>
        <p:nvSpPr>
          <p:cNvPr id="16" name="Text 14"/>
          <p:cNvSpPr/>
          <p:nvPr/>
        </p:nvSpPr>
        <p:spPr>
          <a:xfrm>
            <a:off x="3291840" y="3611880"/>
            <a:ext cx="2743200" cy="594360"/>
          </a:xfrm>
          <a:prstGeom prst="rect">
            <a:avLst/>
          </a:prstGeom>
          <a:noFill/>
          <a:ln/>
        </p:spPr>
        <p:txBody>
          <a:bodyPr wrap="square" lIns="0" tIns="0" rIns="0" bIns="0" rtlCol="0" anchor="ctr"/>
          <a:lstStyle/>
          <a:p>
            <a:pPr algn="ctr" indent="0" marL="0">
              <a:buNone/>
            </a:pPr>
            <a:r>
              <a:rPr lang="en-US" sz="3200" b="1" dirty="0">
                <a:solidFill>
                  <a:srgbClr val="3BB273"/>
                </a:solidFill>
                <a:latin typeface="Calibri" pitchFamily="34" charset="0"/>
                <a:ea typeface="Calibri" pitchFamily="34" charset="-122"/>
                <a:cs typeface="Calibri" pitchFamily="34" charset="-120"/>
              </a:rPr>
              <a:t>38.5%</a:t>
            </a:r>
            <a:endParaRPr lang="en-US" sz="3200" dirty="0"/>
          </a:p>
        </p:txBody>
      </p:sp>
      <p:sp>
        <p:nvSpPr>
          <p:cNvPr id="17" name="Text 15"/>
          <p:cNvSpPr/>
          <p:nvPr/>
        </p:nvSpPr>
        <p:spPr>
          <a:xfrm>
            <a:off x="3291840" y="4224528"/>
            <a:ext cx="274320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de hogares privados</a:t>
            </a:r>
            <a:endParaRPr lang="en-US" sz="1000" dirty="0"/>
          </a:p>
        </p:txBody>
      </p:sp>
      <p:sp>
        <p:nvSpPr>
          <p:cNvPr id="18" name="Shape 16"/>
          <p:cNvSpPr/>
          <p:nvPr/>
        </p:nvSpPr>
        <p:spPr>
          <a:xfrm>
            <a:off x="6217920" y="2148840"/>
            <a:ext cx="2743200" cy="2560320"/>
          </a:xfrm>
          <a:prstGeom prst="rect">
            <a:avLst/>
          </a:prstGeom>
          <a:solidFill>
            <a:srgbClr val="F4F7FA"/>
          </a:solidFill>
          <a:ln w="12700">
            <a:solidFill>
              <a:srgbClr val="E2E8F0"/>
            </a:solidFill>
            <a:prstDash val="solid"/>
          </a:ln>
        </p:spPr>
      </p:sp>
      <p:sp>
        <p:nvSpPr>
          <p:cNvPr id="19" name="Shape 17"/>
          <p:cNvSpPr/>
          <p:nvPr/>
        </p:nvSpPr>
        <p:spPr>
          <a:xfrm>
            <a:off x="6217920" y="2148840"/>
            <a:ext cx="2743200" cy="73152"/>
          </a:xfrm>
          <a:prstGeom prst="rect">
            <a:avLst/>
          </a:prstGeom>
          <a:solidFill>
            <a:srgbClr val="E84855"/>
          </a:solidFill>
          <a:ln w="12700">
            <a:solidFill>
              <a:srgbClr val="E84855"/>
            </a:solidFill>
            <a:prstDash val="solid"/>
          </a:ln>
        </p:spPr>
      </p:sp>
      <p:sp>
        <p:nvSpPr>
          <p:cNvPr id="20" name="Text 18"/>
          <p:cNvSpPr/>
          <p:nvPr/>
        </p:nvSpPr>
        <p:spPr>
          <a:xfrm>
            <a:off x="6217920" y="2286000"/>
            <a:ext cx="2743200" cy="320040"/>
          </a:xfrm>
          <a:prstGeom prst="rect">
            <a:avLst/>
          </a:prstGeom>
          <a:noFill/>
          <a:ln/>
        </p:spPr>
        <p:txBody>
          <a:bodyPr wrap="square" lIns="0" tIns="0" rIns="0" bIns="0" rtlCol="0" anchor="ctr"/>
          <a:lstStyle/>
          <a:p>
            <a:pPr algn="ctr" indent="0" marL="0">
              <a:buNone/>
            </a:pPr>
            <a:r>
              <a:rPr lang="en-US" sz="1300" b="1" dirty="0">
                <a:solidFill>
                  <a:srgbClr val="E84855"/>
                </a:solidFill>
                <a:latin typeface="Calibri" pitchFamily="34" charset="0"/>
                <a:ea typeface="Calibri" pitchFamily="34" charset="-122"/>
                <a:cs typeface="Calibri" pitchFamily="34" charset="-120"/>
              </a:rPr>
              <a:t>VIVIENDA</a:t>
            </a:r>
            <a:endParaRPr lang="en-US" sz="1300" dirty="0"/>
          </a:p>
        </p:txBody>
      </p:sp>
      <p:sp>
        <p:nvSpPr>
          <p:cNvPr id="21" name="Text 19"/>
          <p:cNvSpPr/>
          <p:nvPr/>
        </p:nvSpPr>
        <p:spPr>
          <a:xfrm>
            <a:off x="6355080" y="2743200"/>
            <a:ext cx="2468880" cy="731520"/>
          </a:xfrm>
          <a:prstGeom prst="rect">
            <a:avLst/>
          </a:prstGeom>
          <a:noFill/>
          <a:ln/>
        </p:spPr>
        <p:txBody>
          <a:bodyPr wrap="square" rtlCol="0" anchor="ctr"/>
          <a:lstStyle/>
          <a:p>
            <a:pPr algn="ctr" indent="0" marL="0">
              <a:lnSpc>
                <a:spcPct val="120000"/>
              </a:lnSpc>
              <a:buNone/>
            </a:pPr>
            <a:r>
              <a:rPr lang="en-US" sz="1100" dirty="0">
                <a:solidFill>
                  <a:srgbClr val="64748B"/>
                </a:solidFill>
                <a:latin typeface="Calibri" pitchFamily="34" charset="0"/>
                <a:ea typeface="Calibri" pitchFamily="34" charset="-122"/>
                <a:cs typeface="Calibri" pitchFamily="34" charset="-120"/>
              </a:rPr>
              <a:t>Carencia en pisos, agua, alcantarillado o hacinamiento</a:t>
            </a:r>
            <a:endParaRPr lang="en-US" sz="1100" dirty="0"/>
          </a:p>
        </p:txBody>
      </p:sp>
      <p:sp>
        <p:nvSpPr>
          <p:cNvPr id="22" name="Text 20"/>
          <p:cNvSpPr/>
          <p:nvPr/>
        </p:nvSpPr>
        <p:spPr>
          <a:xfrm>
            <a:off x="6217920" y="3611880"/>
            <a:ext cx="2743200" cy="594360"/>
          </a:xfrm>
          <a:prstGeom prst="rect">
            <a:avLst/>
          </a:prstGeom>
          <a:noFill/>
          <a:ln/>
        </p:spPr>
        <p:txBody>
          <a:bodyPr wrap="square" lIns="0" tIns="0" rIns="0" bIns="0" rtlCol="0" anchor="ctr"/>
          <a:lstStyle/>
          <a:p>
            <a:pPr algn="ctr" indent="0" marL="0">
              <a:buNone/>
            </a:pPr>
            <a:r>
              <a:rPr lang="en-US" sz="3200" b="1" dirty="0">
                <a:solidFill>
                  <a:srgbClr val="E84855"/>
                </a:solidFill>
                <a:latin typeface="Calibri" pitchFamily="34" charset="0"/>
                <a:ea typeface="Calibri" pitchFamily="34" charset="-122"/>
                <a:cs typeface="Calibri" pitchFamily="34" charset="-120"/>
              </a:rPr>
              <a:t>41.3%</a:t>
            </a:r>
            <a:endParaRPr lang="en-US" sz="3200" dirty="0"/>
          </a:p>
        </p:txBody>
      </p:sp>
      <p:sp>
        <p:nvSpPr>
          <p:cNvPr id="23" name="Text 21"/>
          <p:cNvSpPr/>
          <p:nvPr/>
        </p:nvSpPr>
        <p:spPr>
          <a:xfrm>
            <a:off x="6217920" y="4224528"/>
            <a:ext cx="274320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de hogares privados</a:t>
            </a:r>
            <a:endParaRPr lang="en-US" sz="1000" dirty="0"/>
          </a:p>
        </p:txBody>
      </p:sp>
      <p:sp>
        <p:nvSpPr>
          <p:cNvPr id="24" name="Text 22"/>
          <p:cNvSpPr/>
          <p:nvPr/>
        </p:nvSpPr>
        <p:spPr>
          <a:xfrm>
            <a:off x="365760" y="4773168"/>
            <a:ext cx="8412480" cy="256032"/>
          </a:xfrm>
          <a:prstGeom prst="rect">
            <a:avLst/>
          </a:prstGeom>
          <a:noFill/>
          <a:ln/>
        </p:spPr>
        <p:txBody>
          <a:bodyPr wrap="square" rtlCol="0" anchor="ctr"/>
          <a:lstStyle/>
          <a:p>
            <a:pPr algn="ctr" indent="0" marL="0">
              <a:buNone/>
            </a:pPr>
            <a:r>
              <a:rPr lang="en-US" sz="1000" i="1" dirty="0">
                <a:solidFill>
                  <a:srgbClr val="8899AA"/>
                </a:solidFill>
                <a:latin typeface="Calibri" pitchFamily="34" charset="0"/>
                <a:ea typeface="Calibri" pitchFamily="34" charset="-122"/>
                <a:cs typeface="Calibri" pitchFamily="34" charset="-120"/>
              </a:rPr>
              <a:t>IPBH = (priv_educación + priv_salud + priv_vivienda) / 3   |   Umbral: IPBH ≥ 0.33   |   47.8% de hogares con privación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365760" y="182880"/>
            <a:ext cx="1371600" cy="256032"/>
          </a:xfrm>
          <a:prstGeom prst="rect">
            <a:avLst>
              <a:gd name="adj" fmla="val 14286"/>
            </a:avLst>
          </a:prstGeom>
          <a:solidFill>
            <a:srgbClr val="1F4E79"/>
          </a:solidFill>
          <a:ln w="12700">
            <a:solidFill>
              <a:srgbClr val="1F4E79"/>
            </a:solidFill>
            <a:prstDash val="solid"/>
          </a:ln>
        </p:spPr>
      </p:sp>
      <p:sp>
        <p:nvSpPr>
          <p:cNvPr id="3" name="Text 1"/>
          <p:cNvSpPr/>
          <p:nvPr/>
        </p:nvSpPr>
        <p:spPr>
          <a:xfrm>
            <a:off x="365760" y="182880"/>
            <a:ext cx="13716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HALLAZGO EDA</a:t>
            </a:r>
            <a:endParaRPr lang="en-US" sz="1000" dirty="0"/>
          </a:p>
        </p:txBody>
      </p:sp>
      <p:sp>
        <p:nvSpPr>
          <p:cNvPr id="4" name="Text 2"/>
          <p:cNvSpPr/>
          <p:nvPr/>
        </p:nvSpPr>
        <p:spPr>
          <a:xfrm>
            <a:off x="365760" y="530352"/>
            <a:ext cx="8412480" cy="1188720"/>
          </a:xfrm>
          <a:prstGeom prst="rect">
            <a:avLst/>
          </a:prstGeom>
          <a:noFill/>
          <a:ln/>
        </p:spPr>
        <p:txBody>
          <a:bodyPr wrap="square" rtlCol="0" anchor="ctr"/>
          <a:lstStyle/>
          <a:p>
            <a:pPr indent="0" marL="0">
              <a:lnSpc>
                <a:spcPct val="115000"/>
              </a:lnSpc>
              <a:buNone/>
            </a:pPr>
            <a:r>
              <a:rPr lang="en-US" sz="2600" b="1" dirty="0">
                <a:solidFill>
                  <a:srgbClr val="0F2D54"/>
                </a:solidFill>
                <a:latin typeface="Calibri" pitchFamily="34" charset="0"/>
                <a:ea typeface="Calibri" pitchFamily="34" charset="-122"/>
                <a:cs typeface="Calibri" pitchFamily="34" charset="-120"/>
              </a:rPr>
              <a:t>El patrimonio es el escudo principal —</a:t>
            </a:r>
            <a:endParaRPr lang="en-US" sz="2600" dirty="0"/>
          </a:p>
          <a:p>
            <a:pPr indent="0" marL="0">
              <a:lnSpc>
                <a:spcPct val="115000"/>
              </a:lnSpc>
              <a:buNone/>
            </a:pPr>
            <a:r>
              <a:rPr lang="en-US" sz="2600" b="1" dirty="0">
                <a:solidFill>
                  <a:srgbClr val="0F2D54"/>
                </a:solidFill>
                <a:latin typeface="Calibri" pitchFamily="34" charset="0"/>
                <a:ea typeface="Calibri" pitchFamily="34" charset="-122"/>
                <a:cs typeface="Calibri" pitchFamily="34" charset="-120"/>
              </a:rPr>
              <a:t>los crónicos tienen la mitad de activos</a:t>
            </a:r>
            <a:endParaRPr lang="en-US" sz="2600" dirty="0"/>
          </a:p>
        </p:txBody>
      </p:sp>
      <p:graphicFrame>
        <p:nvGraphicFramePr>
          <p:cNvPr id="5" name="Chart 0" descr=""/>
          <p:cNvGraphicFramePr/>
          <p:nvPr/>
        </p:nvGraphicFramePr>
        <p:xfrm>
          <a:off x="274320" y="1828800"/>
          <a:ext cx="5029200" cy="31089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577840" y="1828800"/>
            <a:ext cx="3291840" cy="1417320"/>
          </a:xfrm>
          <a:prstGeom prst="rect">
            <a:avLst/>
          </a:prstGeom>
          <a:solidFill>
            <a:srgbClr val="2E86AB"/>
          </a:solidFill>
          <a:ln w="12700">
            <a:solidFill>
              <a:srgbClr val="2E86AB"/>
            </a:solidFill>
            <a:prstDash val="solid"/>
          </a:ln>
        </p:spPr>
      </p:sp>
      <p:sp>
        <p:nvSpPr>
          <p:cNvPr id="7" name="Text 4"/>
          <p:cNvSpPr/>
          <p:nvPr/>
        </p:nvSpPr>
        <p:spPr>
          <a:xfrm>
            <a:off x="5577840" y="1901952"/>
            <a:ext cx="3291840" cy="320040"/>
          </a:xfrm>
          <a:prstGeom prst="rect">
            <a:avLst/>
          </a:prstGeom>
          <a:noFill/>
          <a:ln/>
        </p:spPr>
        <p:txBody>
          <a:bodyPr wrap="square" rtlCol="0" anchor="ctr"/>
          <a:lstStyle/>
          <a:p>
            <a:pPr algn="ctr" indent="0" marL="0">
              <a:buNone/>
            </a:pPr>
            <a:r>
              <a:rPr lang="en-US" sz="1000" dirty="0">
                <a:solidFill>
                  <a:srgbClr val="CCE8F5"/>
                </a:solidFill>
                <a:latin typeface="Calibri" pitchFamily="34" charset="0"/>
                <a:ea typeface="Calibri" pitchFamily="34" charset="-122"/>
                <a:cs typeface="Calibri" pitchFamily="34" charset="-120"/>
              </a:rPr>
              <a:t>Correlación riqueza–transición</a:t>
            </a:r>
            <a:endParaRPr lang="en-US" sz="1000" dirty="0"/>
          </a:p>
        </p:txBody>
      </p:sp>
      <p:sp>
        <p:nvSpPr>
          <p:cNvPr id="8" name="Text 5"/>
          <p:cNvSpPr/>
          <p:nvPr/>
        </p:nvSpPr>
        <p:spPr>
          <a:xfrm>
            <a:off x="5577840" y="2212848"/>
            <a:ext cx="3291840" cy="68580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-0.63</a:t>
            </a:r>
            <a:endParaRPr lang="en-US" sz="4800" dirty="0"/>
          </a:p>
        </p:txBody>
      </p:sp>
      <p:sp>
        <p:nvSpPr>
          <p:cNvPr id="9" name="Text 6"/>
          <p:cNvSpPr/>
          <p:nvPr/>
        </p:nvSpPr>
        <p:spPr>
          <a:xfrm>
            <a:off x="5577840" y="2944368"/>
            <a:ext cx="3291840" cy="274320"/>
          </a:xfrm>
          <a:prstGeom prst="rect">
            <a:avLst/>
          </a:prstGeom>
          <a:noFill/>
          <a:ln/>
        </p:spPr>
        <p:txBody>
          <a:bodyPr wrap="square" rtlCol="0" anchor="ctr"/>
          <a:lstStyle/>
          <a:p>
            <a:pPr algn="ctr" indent="0" marL="0">
              <a:buNone/>
            </a:pPr>
            <a:r>
              <a:rPr lang="en-US" sz="900" dirty="0">
                <a:solidFill>
                  <a:srgbClr val="CCE8F5"/>
                </a:solidFill>
                <a:latin typeface="Calibri" pitchFamily="34" charset="0"/>
                <a:ea typeface="Calibri" pitchFamily="34" charset="-122"/>
                <a:cs typeface="Calibri" pitchFamily="34" charset="-120"/>
              </a:rPr>
              <a:t>La más alta de todas las variables</a:t>
            </a:r>
            <a:endParaRPr lang="en-US" sz="900" dirty="0"/>
          </a:p>
        </p:txBody>
      </p:sp>
      <p:sp>
        <p:nvSpPr>
          <p:cNvPr id="10" name="Shape 7"/>
          <p:cNvSpPr/>
          <p:nvPr/>
        </p:nvSpPr>
        <p:spPr>
          <a:xfrm>
            <a:off x="5577840" y="3383280"/>
            <a:ext cx="1581912" cy="1463040"/>
          </a:xfrm>
          <a:prstGeom prst="rect">
            <a:avLst/>
          </a:prstGeom>
          <a:solidFill>
            <a:srgbClr val="F4F7FA"/>
          </a:solidFill>
          <a:ln w="12700">
            <a:solidFill>
              <a:srgbClr val="DDE8F0"/>
            </a:solidFill>
            <a:prstDash val="solid"/>
          </a:ln>
        </p:spPr>
      </p:sp>
      <p:sp>
        <p:nvSpPr>
          <p:cNvPr id="11" name="Text 8"/>
          <p:cNvSpPr/>
          <p:nvPr/>
        </p:nvSpPr>
        <p:spPr>
          <a:xfrm>
            <a:off x="5577840" y="3456432"/>
            <a:ext cx="1581912" cy="2743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Estables</a:t>
            </a:r>
            <a:endParaRPr lang="en-US" sz="1000" dirty="0"/>
          </a:p>
        </p:txBody>
      </p:sp>
      <p:sp>
        <p:nvSpPr>
          <p:cNvPr id="12" name="Text 9"/>
          <p:cNvSpPr/>
          <p:nvPr/>
        </p:nvSpPr>
        <p:spPr>
          <a:xfrm>
            <a:off x="5577840" y="3749040"/>
            <a:ext cx="1581912" cy="594360"/>
          </a:xfrm>
          <a:prstGeom prst="rect">
            <a:avLst/>
          </a:prstGeom>
          <a:noFill/>
          <a:ln/>
        </p:spPr>
        <p:txBody>
          <a:bodyPr wrap="square" lIns="0" tIns="0" rIns="0" bIns="0" rtlCol="0" anchor="ctr"/>
          <a:lstStyle/>
          <a:p>
            <a:pPr algn="ctr" indent="0" marL="0">
              <a:buNone/>
            </a:pPr>
            <a:r>
              <a:rPr lang="en-US" sz="3000" b="1" dirty="0">
                <a:solidFill>
                  <a:srgbClr val="2E86AB"/>
                </a:solidFill>
                <a:latin typeface="Calibri" pitchFamily="34" charset="0"/>
                <a:ea typeface="Calibri" pitchFamily="34" charset="-122"/>
                <a:cs typeface="Calibri" pitchFamily="34" charset="-120"/>
              </a:rPr>
              <a:t>14.9</a:t>
            </a:r>
            <a:endParaRPr lang="en-US" sz="3000" dirty="0"/>
          </a:p>
        </p:txBody>
      </p:sp>
      <p:sp>
        <p:nvSpPr>
          <p:cNvPr id="13" name="Text 10"/>
          <p:cNvSpPr/>
          <p:nvPr/>
        </p:nvSpPr>
        <p:spPr>
          <a:xfrm>
            <a:off x="5577840" y="4361688"/>
            <a:ext cx="1581912"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activos prom.</a:t>
            </a:r>
            <a:endParaRPr lang="en-US" sz="900" dirty="0"/>
          </a:p>
        </p:txBody>
      </p:sp>
      <p:sp>
        <p:nvSpPr>
          <p:cNvPr id="14" name="Shape 11"/>
          <p:cNvSpPr/>
          <p:nvPr/>
        </p:nvSpPr>
        <p:spPr>
          <a:xfrm>
            <a:off x="7287768" y="3383280"/>
            <a:ext cx="1581912" cy="1463040"/>
          </a:xfrm>
          <a:prstGeom prst="rect">
            <a:avLst/>
          </a:prstGeom>
          <a:solidFill>
            <a:srgbClr val="F4F7FA"/>
          </a:solidFill>
          <a:ln w="12700">
            <a:solidFill>
              <a:srgbClr val="DDE8F0"/>
            </a:solidFill>
            <a:prstDash val="solid"/>
          </a:ln>
        </p:spPr>
      </p:sp>
      <p:sp>
        <p:nvSpPr>
          <p:cNvPr id="15" name="Text 12"/>
          <p:cNvSpPr/>
          <p:nvPr/>
        </p:nvSpPr>
        <p:spPr>
          <a:xfrm>
            <a:off x="7287768" y="3456432"/>
            <a:ext cx="1581912" cy="2743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Crónicos</a:t>
            </a:r>
            <a:endParaRPr lang="en-US" sz="1000" dirty="0"/>
          </a:p>
        </p:txBody>
      </p:sp>
      <p:sp>
        <p:nvSpPr>
          <p:cNvPr id="16" name="Text 13"/>
          <p:cNvSpPr/>
          <p:nvPr/>
        </p:nvSpPr>
        <p:spPr>
          <a:xfrm>
            <a:off x="7287768" y="3749040"/>
            <a:ext cx="1581912" cy="594360"/>
          </a:xfrm>
          <a:prstGeom prst="rect">
            <a:avLst/>
          </a:prstGeom>
          <a:noFill/>
          <a:ln/>
        </p:spPr>
        <p:txBody>
          <a:bodyPr wrap="square" lIns="0" tIns="0" rIns="0" bIns="0" rtlCol="0" anchor="ctr"/>
          <a:lstStyle/>
          <a:p>
            <a:pPr algn="ctr" indent="0" marL="0">
              <a:buNone/>
            </a:pPr>
            <a:r>
              <a:rPr lang="en-US" sz="3000" b="1" dirty="0">
                <a:solidFill>
                  <a:srgbClr val="E84855"/>
                </a:solidFill>
                <a:latin typeface="Calibri" pitchFamily="34" charset="0"/>
                <a:ea typeface="Calibri" pitchFamily="34" charset="-122"/>
                <a:cs typeface="Calibri" pitchFamily="34" charset="-120"/>
              </a:rPr>
              <a:t>9.0</a:t>
            </a:r>
            <a:endParaRPr lang="en-US" sz="3000" dirty="0"/>
          </a:p>
        </p:txBody>
      </p:sp>
      <p:sp>
        <p:nvSpPr>
          <p:cNvPr id="17" name="Text 14"/>
          <p:cNvSpPr/>
          <p:nvPr/>
        </p:nvSpPr>
        <p:spPr>
          <a:xfrm>
            <a:off x="7287768" y="4361688"/>
            <a:ext cx="1581912" cy="256032"/>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activos prom.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82880"/>
            <a:ext cx="1828800" cy="256032"/>
          </a:xfrm>
          <a:prstGeom prst="rect">
            <a:avLst>
              <a:gd name="adj" fmla="val 14286"/>
            </a:avLst>
          </a:prstGeom>
          <a:solidFill>
            <a:srgbClr val="3BB273"/>
          </a:solidFill>
          <a:ln w="12700">
            <a:solidFill>
              <a:srgbClr val="3BB273"/>
            </a:solidFill>
            <a:prstDash val="solid"/>
          </a:ln>
        </p:spPr>
      </p:sp>
      <p:sp>
        <p:nvSpPr>
          <p:cNvPr id="3" name="Text 1"/>
          <p:cNvSpPr/>
          <p:nvPr/>
        </p:nvSpPr>
        <p:spPr>
          <a:xfrm>
            <a:off x="365760" y="182880"/>
            <a:ext cx="18288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VARIABLES NUEVAS</a:t>
            </a:r>
            <a:endParaRPr lang="en-US" sz="1000" dirty="0"/>
          </a:p>
        </p:txBody>
      </p:sp>
      <p:sp>
        <p:nvSpPr>
          <p:cNvPr id="4" name="Text 2"/>
          <p:cNvSpPr/>
          <p:nvPr/>
        </p:nvSpPr>
        <p:spPr>
          <a:xfrm>
            <a:off x="365760" y="530352"/>
            <a:ext cx="8412480" cy="1188720"/>
          </a:xfrm>
          <a:prstGeom prst="rect">
            <a:avLst/>
          </a:prstGeom>
          <a:noFill/>
          <a:ln/>
        </p:spPr>
        <p:txBody>
          <a:bodyPr wrap="square" rtlCol="0" anchor="ctr"/>
          <a:lstStyle/>
          <a:p>
            <a:pPr indent="0" marL="0">
              <a:lnSpc>
                <a:spcPct val="110000"/>
              </a:lnSpc>
              <a:buNone/>
            </a:pPr>
            <a:r>
              <a:rPr lang="en-US" sz="2400" b="1" dirty="0">
                <a:solidFill>
                  <a:srgbClr val="0F2D54"/>
                </a:solidFill>
                <a:latin typeface="Calibri" pitchFamily="34" charset="0"/>
                <a:ea typeface="Calibri" pitchFamily="34" charset="-122"/>
                <a:cs typeface="Calibri" pitchFamily="34" charset="-120"/>
              </a:rPr>
              <a:t>Los rurales tienen 3× menos resiliencia</a:t>
            </a:r>
            <a:endParaRPr lang="en-US" sz="2400" dirty="0"/>
          </a:p>
          <a:p>
            <a:pPr indent="0" marL="0">
              <a:lnSpc>
                <a:spcPct val="110000"/>
              </a:lnSpc>
              <a:buNone/>
            </a:pPr>
            <a:r>
              <a:rPr lang="en-US" sz="2400" b="1" dirty="0">
                <a:solidFill>
                  <a:srgbClr val="0F2D54"/>
                </a:solidFill>
                <a:latin typeface="Calibri" pitchFamily="34" charset="0"/>
                <a:ea typeface="Calibri" pitchFamily="34" charset="-122"/>
                <a:cs typeface="Calibri" pitchFamily="34" charset="-120"/>
              </a:rPr>
              <a:t>y los subsidios no alcanzan para sacarlos</a:t>
            </a:r>
            <a:endParaRPr lang="en-US" sz="2400" dirty="0"/>
          </a:p>
        </p:txBody>
      </p:sp>
      <p:graphicFrame>
        <p:nvGraphicFramePr>
          <p:cNvPr id="5" name="Chart 0" descr=""/>
          <p:cNvGraphicFramePr/>
          <p:nvPr/>
        </p:nvGraphicFramePr>
        <p:xfrm>
          <a:off x="274320" y="1828800"/>
          <a:ext cx="3017520" cy="25603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3474720" y="1828800"/>
          <a:ext cx="3474720" cy="256032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7132320" y="1828800"/>
            <a:ext cx="1737360" cy="2560320"/>
          </a:xfrm>
          <a:prstGeom prst="rect">
            <a:avLst/>
          </a:prstGeom>
          <a:solidFill>
            <a:srgbClr val="FFF3CD"/>
          </a:solidFill>
          <a:ln w="12700">
            <a:solidFill>
              <a:srgbClr val="FFD700"/>
            </a:solidFill>
            <a:prstDash val="solid"/>
          </a:ln>
        </p:spPr>
      </p:sp>
      <p:sp>
        <p:nvSpPr>
          <p:cNvPr id="8" name="Text 4"/>
          <p:cNvSpPr/>
          <p:nvPr/>
        </p:nvSpPr>
        <p:spPr>
          <a:xfrm>
            <a:off x="7132320" y="1920240"/>
            <a:ext cx="1737360" cy="274320"/>
          </a:xfrm>
          <a:prstGeom prst="rect">
            <a:avLst/>
          </a:prstGeom>
          <a:noFill/>
          <a:ln/>
        </p:spPr>
        <p:txBody>
          <a:bodyPr wrap="square" rtlCol="0" anchor="ctr"/>
          <a:lstStyle/>
          <a:p>
            <a:pPr algn="ctr" indent="0" marL="0">
              <a:buNone/>
            </a:pPr>
            <a:r>
              <a:rPr lang="en-US" sz="1000" b="1" dirty="0">
                <a:solidFill>
                  <a:srgbClr val="8B6914"/>
                </a:solidFill>
                <a:latin typeface="Calibri" pitchFamily="34" charset="0"/>
                <a:ea typeface="Calibri" pitchFamily="34" charset="-122"/>
                <a:cs typeface="Calibri" pitchFamily="34" charset="-120"/>
              </a:rPr>
              <a:t>⚠ Paradoja</a:t>
            </a:r>
            <a:endParaRPr lang="en-US" sz="1000" dirty="0"/>
          </a:p>
        </p:txBody>
      </p:sp>
      <p:sp>
        <p:nvSpPr>
          <p:cNvPr id="9" name="Text 5"/>
          <p:cNvSpPr/>
          <p:nvPr/>
        </p:nvSpPr>
        <p:spPr>
          <a:xfrm>
            <a:off x="7178040" y="2286000"/>
            <a:ext cx="1645920" cy="1920240"/>
          </a:xfrm>
          <a:prstGeom prst="rect">
            <a:avLst/>
          </a:prstGeom>
          <a:noFill/>
          <a:ln/>
        </p:spPr>
        <p:txBody>
          <a:bodyPr wrap="square" rtlCol="0" anchor="ctr"/>
          <a:lstStyle/>
          <a:p>
            <a:pPr indent="0" marL="0">
              <a:lnSpc>
                <a:spcPct val="130000"/>
              </a:lnSpc>
              <a:buNone/>
            </a:pPr>
            <a:r>
              <a:rPr lang="en-US" sz="1000" dirty="0">
                <a:solidFill>
                  <a:srgbClr val="5C4A1A"/>
                </a:solidFill>
                <a:latin typeface="Calibri" pitchFamily="34" charset="0"/>
                <a:ea typeface="Calibri" pitchFamily="34" charset="-122"/>
                <a:cs typeface="Calibri" pitchFamily="34" charset="-120"/>
              </a:rPr>
              <a:t>Los crónicos reciben MÁS subsidios (64.5%) pero siguen en privación.</a:t>
            </a:r>
            <a:endParaRPr lang="en-US" sz="1000" dirty="0"/>
          </a:p>
          <a:p>
            <a:pPr indent="0" marL="0">
              <a:lnSpc>
                <a:spcPct val="130000"/>
              </a:lnSpc>
              <a:buNone/>
            </a:pPr>
            <a:endParaRPr lang="en-US" sz="1000" dirty="0"/>
          </a:p>
          <a:p>
            <a:pPr indent="0" marL="0">
              <a:lnSpc>
                <a:spcPct val="130000"/>
              </a:lnSpc>
              <a:buNone/>
            </a:pPr>
            <a:r>
              <a:rPr lang="en-US" sz="1000" dirty="0">
                <a:solidFill>
                  <a:srgbClr val="5C4A1A"/>
                </a:solidFill>
                <a:latin typeface="Calibri" pitchFamily="34" charset="0"/>
                <a:ea typeface="Calibri" pitchFamily="34" charset="-122"/>
                <a:cs typeface="Calibri" pitchFamily="34" charset="-120"/>
              </a:rPr>
              <a:t>La focalización llega a quien debe, pero no alcanza para sacarlos.</a:t>
            </a:r>
            <a:endParaRPr lang="en-US" sz="1000" dirty="0"/>
          </a:p>
        </p:txBody>
      </p:sp>
      <p:sp>
        <p:nvSpPr>
          <p:cNvPr id="10" name="Text 6"/>
          <p:cNvSpPr/>
          <p:nvPr/>
        </p:nvSpPr>
        <p:spPr>
          <a:xfrm>
            <a:off x="274320" y="4800600"/>
            <a:ext cx="8595360" cy="25603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10.9% acceso a crédito formal  ·  EDA realizado solo sobre datos de entrenamiento (80%)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365760" y="182880"/>
            <a:ext cx="1645920" cy="256032"/>
          </a:xfrm>
          <a:prstGeom prst="rect">
            <a:avLst>
              <a:gd name="adj" fmla="val 14286"/>
            </a:avLst>
          </a:prstGeom>
          <a:solidFill>
            <a:srgbClr val="1F4E79"/>
          </a:solidFill>
          <a:ln w="12700">
            <a:solidFill>
              <a:srgbClr val="1F4E79"/>
            </a:solidFill>
            <a:prstDash val="solid"/>
          </a:ln>
        </p:spPr>
      </p:sp>
      <p:sp>
        <p:nvSpPr>
          <p:cNvPr id="3" name="Text 1"/>
          <p:cNvSpPr/>
          <p:nvPr/>
        </p:nvSpPr>
        <p:spPr>
          <a:xfrm>
            <a:off x="365760" y="182880"/>
            <a:ext cx="16459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EL MODELO</a:t>
            </a:r>
            <a:endParaRPr lang="en-US" sz="1000" dirty="0"/>
          </a:p>
        </p:txBody>
      </p:sp>
      <p:sp>
        <p:nvSpPr>
          <p:cNvPr id="4" name="Text 2"/>
          <p:cNvSpPr/>
          <p:nvPr/>
        </p:nvSpPr>
        <p:spPr>
          <a:xfrm>
            <a:off x="365760" y="530352"/>
            <a:ext cx="8412480" cy="1097280"/>
          </a:xfrm>
          <a:prstGeom prst="rect">
            <a:avLst/>
          </a:prstGeom>
          <a:noFill/>
          <a:ln/>
        </p:spPr>
        <p:txBody>
          <a:bodyPr wrap="square" rtlCol="0" anchor="ctr"/>
          <a:lstStyle/>
          <a:p>
            <a:pPr indent="0" marL="0">
              <a:lnSpc>
                <a:spcPct val="110000"/>
              </a:lnSpc>
              <a:buNone/>
            </a:pPr>
            <a:r>
              <a:rPr lang="en-US" sz="2600" b="1" dirty="0">
                <a:solidFill>
                  <a:srgbClr val="0F2D54"/>
                </a:solidFill>
                <a:latin typeface="Calibri" pitchFamily="34" charset="0"/>
                <a:ea typeface="Calibri" pitchFamily="34" charset="-122"/>
                <a:cs typeface="Calibri" pitchFamily="34" charset="-120"/>
              </a:rPr>
              <a:t>XGBoost con AUC 0.9245 — el mejor</a:t>
            </a:r>
            <a:endParaRPr lang="en-US" sz="2600" dirty="0"/>
          </a:p>
          <a:p>
            <a:pPr indent="0" marL="0">
              <a:lnSpc>
                <a:spcPct val="110000"/>
              </a:lnSpc>
              <a:buNone/>
            </a:pPr>
            <a:r>
              <a:rPr lang="en-US" sz="2600" b="1" dirty="0">
                <a:solidFill>
                  <a:srgbClr val="0F2D54"/>
                </a:solidFill>
                <a:latin typeface="Calibri" pitchFamily="34" charset="0"/>
                <a:ea typeface="Calibri" pitchFamily="34" charset="-122"/>
                <a:cs typeface="Calibri" pitchFamily="34" charset="-120"/>
              </a:rPr>
              <a:t>de los 4 modelos comparados</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828800"/>
          <a:ext cx="8595360" cy="2560320"/>
        </p:xfrm>
        <a:graphic>
          <a:graphicData uri="http://schemas.openxmlformats.org/drawingml/2006/table">
            <a:tbl>
              <a:tblPr/>
              <a:tblGrid>
                <a:gridCol w="2194560"/>
                <a:gridCol w="1828800"/>
                <a:gridCol w="1645920"/>
                <a:gridCol w="2926080"/>
              </a:tblGrid>
              <a:tr h="51206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Modelo</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AUC-ROC (CV k=5)</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AUC-ROC (Test)</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Mejores hiperparámetros</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F4E79"/>
                    </a:solidFill>
                  </a:tcPr>
                </a:tc>
              </a:tr>
              <a:tr h="512064">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Regresión Logística</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0.8983</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0.8962</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 = 10</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r>
              <a:tr h="512064">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0.9146</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0.9164</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n_estimators=200, max_depth=10</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r>
              <a:tr h="512064">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Gradient Boosting</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0.9209</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0.9233</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n_estimators=100, lr=0.05, depth=5</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r>
              <a:tr h="512064">
                <a:tc>
                  <a:txBody>
                    <a:bodyPr/>
                    <a:lstStyle/>
                    <a:p>
                      <a:pPr indent="0" marL="0">
                        <a:buNone/>
                      </a:pPr>
                      <a:r>
                        <a:rPr lang="en-US" sz="1100" b="1" dirty="0">
                          <a:solidFill>
                            <a:srgbClr val="F7B731"/>
                          </a:solidFill>
                          <a:latin typeface="Calibri" pitchFamily="34" charset="0"/>
                          <a:ea typeface="Calibri" pitchFamily="34" charset="-122"/>
                          <a:cs typeface="Calibri" pitchFamily="34" charset="-120"/>
                        </a:rPr>
                        <a:t>XGBoost ★ CAMPEÓN</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F2D54"/>
                    </a:solidFill>
                  </a:tcPr>
                </a:tc>
                <a:tc>
                  <a:txBody>
                    <a:bodyPr/>
                    <a:lstStyle/>
                    <a:p>
                      <a:pPr indent="0" marL="0">
                        <a:buNone/>
                      </a:pPr>
                      <a:r>
                        <a:rPr lang="en-US" sz="1100" b="1" dirty="0">
                          <a:solidFill>
                            <a:srgbClr val="F7B731"/>
                          </a:solidFill>
                          <a:latin typeface="Calibri" pitchFamily="34" charset="0"/>
                          <a:ea typeface="Calibri" pitchFamily="34" charset="-122"/>
                          <a:cs typeface="Calibri" pitchFamily="34" charset="-120"/>
                        </a:rPr>
                        <a:t>0.9223</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F2D54"/>
                    </a:solidFill>
                  </a:tcPr>
                </a:tc>
                <a:tc>
                  <a:txBody>
                    <a:bodyPr/>
                    <a:lstStyle/>
                    <a:p>
                      <a:pPr indent="0" marL="0">
                        <a:buNone/>
                      </a:pPr>
                      <a:r>
                        <a:rPr lang="en-US" sz="1100" b="1" dirty="0">
                          <a:solidFill>
                            <a:srgbClr val="F7B731"/>
                          </a:solidFill>
                          <a:latin typeface="Calibri" pitchFamily="34" charset="0"/>
                          <a:ea typeface="Calibri" pitchFamily="34" charset="-122"/>
                          <a:cs typeface="Calibri" pitchFamily="34" charset="-120"/>
                        </a:rPr>
                        <a:t>0.9245</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F2D54"/>
                    </a:solidFill>
                  </a:tcPr>
                </a:tc>
                <a:tc>
                  <a:txBody>
                    <a:bodyPr/>
                    <a:lstStyle/>
                    <a:p>
                      <a:pPr indent="0" marL="0">
                        <a:buNone/>
                      </a:pPr>
                      <a:r>
                        <a:rPr lang="en-US" sz="1100" b="1" dirty="0">
                          <a:solidFill>
                            <a:srgbClr val="F7B731"/>
                          </a:solidFill>
                          <a:latin typeface="Calibri" pitchFamily="34" charset="0"/>
                          <a:ea typeface="Calibri" pitchFamily="34" charset="-122"/>
                          <a:cs typeface="Calibri" pitchFamily="34" charset="-120"/>
                        </a:rPr>
                        <a:t>n_estimators=200, lr=0.1, depth=3</a:t>
                      </a:r>
                      <a:endParaRPr lang="en-US" sz="1100" dirty="0">
                        <a:latin typeface="Calibri" charset="0"/>
                        <a:ea typeface="Calibri" charset="0"/>
                        <a:cs typeface="Calibri" charset="0"/>
                      </a:endParaRPr>
                    </a:p>
                  </a:txBody>
                  <a:tcPr marL="91440" marR="91440" marT="45720" marB="45720">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0F2D54"/>
                    </a:solidFill>
                  </a:tcPr>
                </a:tc>
              </a:tr>
            </a:tbl>
          </a:graphicData>
        </a:graphic>
      </p:graphicFrame>
      <p:sp>
        <p:nvSpPr>
          <p:cNvPr id="6" name="Text 3"/>
          <p:cNvSpPr/>
          <p:nvPr/>
        </p:nvSpPr>
        <p:spPr>
          <a:xfrm>
            <a:off x="274320" y="4590288"/>
            <a:ext cx="8595360" cy="292608"/>
          </a:xfrm>
          <a:prstGeom prst="rect">
            <a:avLst/>
          </a:prstGeom>
          <a:noFill/>
          <a:ln/>
        </p:spPr>
        <p:txBody>
          <a:bodyPr wrap="square"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GridSearchCV · StratifiedKFold (k=5) · AUC-ROC one-vs-rest · Escalado todos los modelos · EDA solo en train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365760" y="182880"/>
            <a:ext cx="1645920" cy="256032"/>
          </a:xfrm>
          <a:prstGeom prst="rect">
            <a:avLst>
              <a:gd name="adj" fmla="val 14286"/>
            </a:avLst>
          </a:prstGeom>
          <a:solidFill>
            <a:srgbClr val="1F4E79"/>
          </a:solidFill>
          <a:ln w="12700">
            <a:solidFill>
              <a:srgbClr val="1F4E79"/>
            </a:solidFill>
            <a:prstDash val="solid"/>
          </a:ln>
        </p:spPr>
      </p:sp>
      <p:sp>
        <p:nvSpPr>
          <p:cNvPr id="3" name="Text 1"/>
          <p:cNvSpPr/>
          <p:nvPr/>
        </p:nvSpPr>
        <p:spPr>
          <a:xfrm>
            <a:off x="365760" y="182880"/>
            <a:ext cx="16459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CURVA ROC</a:t>
            </a:r>
            <a:endParaRPr lang="en-US" sz="1000" dirty="0"/>
          </a:p>
        </p:txBody>
      </p:sp>
      <p:sp>
        <p:nvSpPr>
          <p:cNvPr id="4" name="Text 2"/>
          <p:cNvSpPr/>
          <p:nvPr/>
        </p:nvSpPr>
        <p:spPr>
          <a:xfrm>
            <a:off x="365760" y="530352"/>
            <a:ext cx="8412480" cy="1097280"/>
          </a:xfrm>
          <a:prstGeom prst="rect">
            <a:avLst/>
          </a:prstGeom>
          <a:noFill/>
          <a:ln/>
        </p:spPr>
        <p:txBody>
          <a:bodyPr wrap="square" rtlCol="0" anchor="ctr"/>
          <a:lstStyle/>
          <a:p>
            <a:pPr indent="0" marL="0">
              <a:lnSpc>
                <a:spcPct val="110000"/>
              </a:lnSpc>
              <a:buNone/>
            </a:pPr>
            <a:r>
              <a:rPr lang="en-US" sz="2600" b="1" dirty="0">
                <a:solidFill>
                  <a:srgbClr val="0F2D54"/>
                </a:solidFill>
                <a:latin typeface="Calibri" pitchFamily="34" charset="0"/>
                <a:ea typeface="Calibri" pitchFamily="34" charset="-122"/>
                <a:cs typeface="Calibri" pitchFamily="34" charset="-120"/>
              </a:rPr>
              <a:t>La curva ROC confirma el dominio</a:t>
            </a:r>
            <a:endParaRPr lang="en-US" sz="2600" dirty="0"/>
          </a:p>
          <a:p>
            <a:pPr indent="0" marL="0">
              <a:lnSpc>
                <a:spcPct val="110000"/>
              </a:lnSpc>
              <a:buNone/>
            </a:pPr>
            <a:r>
              <a:rPr lang="en-US" sz="2600" b="1" dirty="0">
                <a:solidFill>
                  <a:srgbClr val="0F2D54"/>
                </a:solidFill>
                <a:latin typeface="Calibri" pitchFamily="34" charset="0"/>
                <a:ea typeface="Calibri" pitchFamily="34" charset="-122"/>
                <a:cs typeface="Calibri" pitchFamily="34" charset="-120"/>
              </a:rPr>
              <a:t>del XGBoost en todos los umbrales</a:t>
            </a:r>
            <a:endParaRPr lang="en-US" sz="2600" dirty="0"/>
          </a:p>
        </p:txBody>
      </p:sp>
      <p:pic>
        <p:nvPicPr>
          <p:cNvPr id="5" name="Image 0" descr="preencoded.png">    </p:cNvPr>
          <p:cNvPicPr>
            <a:picLocks noChangeAspect="1"/>
          </p:cNvPicPr>
          <p:nvPr/>
        </p:nvPicPr>
        <p:blipFill>
          <a:blip r:embed="rId1"/>
          <a:stretch>
            <a:fillRect/>
          </a:stretch>
        </p:blipFill>
        <p:spPr>
          <a:xfrm>
            <a:off x="274320" y="1691640"/>
            <a:ext cx="5943600" cy="3200400"/>
          </a:xfrm>
          <a:prstGeom prst="rect">
            <a:avLst/>
          </a:prstGeom>
        </p:spPr>
      </p:pic>
      <p:sp>
        <p:nvSpPr>
          <p:cNvPr id="6" name="Shape 3"/>
          <p:cNvSpPr/>
          <p:nvPr/>
        </p:nvSpPr>
        <p:spPr>
          <a:xfrm>
            <a:off x="6492240" y="1828800"/>
            <a:ext cx="2377440" cy="594360"/>
          </a:xfrm>
          <a:prstGeom prst="rect">
            <a:avLst/>
          </a:prstGeom>
          <a:solidFill>
            <a:srgbClr val="1F4E79"/>
          </a:solidFill>
          <a:ln w="12700">
            <a:solidFill>
              <a:srgbClr val="1F4E79"/>
            </a:solidFill>
            <a:prstDash val="solid"/>
          </a:ln>
        </p:spPr>
      </p:sp>
      <p:sp>
        <p:nvSpPr>
          <p:cNvPr id="7" name="Text 4"/>
          <p:cNvSpPr/>
          <p:nvPr/>
        </p:nvSpPr>
        <p:spPr>
          <a:xfrm>
            <a:off x="6492240" y="1874520"/>
            <a:ext cx="237744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XGBoost</a:t>
            </a:r>
            <a:endParaRPr lang="en-US" sz="1000" dirty="0"/>
          </a:p>
        </p:txBody>
      </p:sp>
      <p:sp>
        <p:nvSpPr>
          <p:cNvPr id="8" name="Text 5"/>
          <p:cNvSpPr/>
          <p:nvPr/>
        </p:nvSpPr>
        <p:spPr>
          <a:xfrm>
            <a:off x="6492240" y="2121408"/>
            <a:ext cx="2377440" cy="25603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AUC = 0.9245</a:t>
            </a:r>
            <a:endParaRPr lang="en-US" sz="1300" dirty="0"/>
          </a:p>
        </p:txBody>
      </p:sp>
      <p:sp>
        <p:nvSpPr>
          <p:cNvPr id="9" name="Shape 6"/>
          <p:cNvSpPr/>
          <p:nvPr/>
        </p:nvSpPr>
        <p:spPr>
          <a:xfrm>
            <a:off x="6492240" y="2514600"/>
            <a:ext cx="2377440" cy="594360"/>
          </a:xfrm>
          <a:prstGeom prst="rect">
            <a:avLst/>
          </a:prstGeom>
          <a:solidFill>
            <a:srgbClr val="F4F7FA"/>
          </a:solidFill>
          <a:ln w="12700">
            <a:solidFill>
              <a:srgbClr val="DDE8F0"/>
            </a:solidFill>
            <a:prstDash val="solid"/>
          </a:ln>
        </p:spPr>
      </p:sp>
      <p:sp>
        <p:nvSpPr>
          <p:cNvPr id="10" name="Text 7"/>
          <p:cNvSpPr/>
          <p:nvPr/>
        </p:nvSpPr>
        <p:spPr>
          <a:xfrm>
            <a:off x="6492240" y="2560320"/>
            <a:ext cx="237744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Gradient Boosting</a:t>
            </a:r>
            <a:endParaRPr lang="en-US" sz="1000" dirty="0"/>
          </a:p>
        </p:txBody>
      </p:sp>
      <p:sp>
        <p:nvSpPr>
          <p:cNvPr id="11" name="Text 8"/>
          <p:cNvSpPr/>
          <p:nvPr/>
        </p:nvSpPr>
        <p:spPr>
          <a:xfrm>
            <a:off x="6492240" y="2807208"/>
            <a:ext cx="2377440" cy="256032"/>
          </a:xfrm>
          <a:prstGeom prst="rect">
            <a:avLst/>
          </a:prstGeom>
          <a:noFill/>
          <a:ln/>
        </p:spPr>
        <p:txBody>
          <a:bodyPr wrap="square" rtlCol="0" anchor="ctr"/>
          <a:lstStyle/>
          <a:p>
            <a:pPr algn="ctr" indent="0" marL="0">
              <a:buNone/>
            </a:pPr>
            <a:r>
              <a:rPr lang="en-US" sz="1300" b="1" dirty="0">
                <a:solidFill>
                  <a:srgbClr val="64748B"/>
                </a:solidFill>
                <a:latin typeface="Calibri" pitchFamily="34" charset="0"/>
                <a:ea typeface="Calibri" pitchFamily="34" charset="-122"/>
                <a:cs typeface="Calibri" pitchFamily="34" charset="-120"/>
              </a:rPr>
              <a:t>AUC = 0.9233</a:t>
            </a:r>
            <a:endParaRPr lang="en-US" sz="1300" dirty="0"/>
          </a:p>
        </p:txBody>
      </p:sp>
      <p:sp>
        <p:nvSpPr>
          <p:cNvPr id="12" name="Shape 9"/>
          <p:cNvSpPr/>
          <p:nvPr/>
        </p:nvSpPr>
        <p:spPr>
          <a:xfrm>
            <a:off x="6492240" y="3200400"/>
            <a:ext cx="2377440" cy="594360"/>
          </a:xfrm>
          <a:prstGeom prst="rect">
            <a:avLst/>
          </a:prstGeom>
          <a:solidFill>
            <a:srgbClr val="F4F7FA"/>
          </a:solidFill>
          <a:ln w="12700">
            <a:solidFill>
              <a:srgbClr val="DDE8F0"/>
            </a:solidFill>
            <a:prstDash val="solid"/>
          </a:ln>
        </p:spPr>
      </p:sp>
      <p:sp>
        <p:nvSpPr>
          <p:cNvPr id="13" name="Text 10"/>
          <p:cNvSpPr/>
          <p:nvPr/>
        </p:nvSpPr>
        <p:spPr>
          <a:xfrm>
            <a:off x="6492240" y="3246120"/>
            <a:ext cx="237744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Random Forest</a:t>
            </a:r>
            <a:endParaRPr lang="en-US" sz="1000" dirty="0"/>
          </a:p>
        </p:txBody>
      </p:sp>
      <p:sp>
        <p:nvSpPr>
          <p:cNvPr id="14" name="Text 11"/>
          <p:cNvSpPr/>
          <p:nvPr/>
        </p:nvSpPr>
        <p:spPr>
          <a:xfrm>
            <a:off x="6492240" y="3493008"/>
            <a:ext cx="2377440" cy="256032"/>
          </a:xfrm>
          <a:prstGeom prst="rect">
            <a:avLst/>
          </a:prstGeom>
          <a:noFill/>
          <a:ln/>
        </p:spPr>
        <p:txBody>
          <a:bodyPr wrap="square" rtlCol="0" anchor="ctr"/>
          <a:lstStyle/>
          <a:p>
            <a:pPr algn="ctr" indent="0" marL="0">
              <a:buNone/>
            </a:pPr>
            <a:r>
              <a:rPr lang="en-US" sz="1300" b="1" dirty="0">
                <a:solidFill>
                  <a:srgbClr val="64748B"/>
                </a:solidFill>
                <a:latin typeface="Calibri" pitchFamily="34" charset="0"/>
                <a:ea typeface="Calibri" pitchFamily="34" charset="-122"/>
                <a:cs typeface="Calibri" pitchFamily="34" charset="-120"/>
              </a:rPr>
              <a:t>AUC = 0.9164</a:t>
            </a:r>
            <a:endParaRPr lang="en-US" sz="1300" dirty="0"/>
          </a:p>
        </p:txBody>
      </p:sp>
      <p:sp>
        <p:nvSpPr>
          <p:cNvPr id="15" name="Shape 12"/>
          <p:cNvSpPr/>
          <p:nvPr/>
        </p:nvSpPr>
        <p:spPr>
          <a:xfrm>
            <a:off x="6492240" y="3886200"/>
            <a:ext cx="2377440" cy="594360"/>
          </a:xfrm>
          <a:prstGeom prst="rect">
            <a:avLst/>
          </a:prstGeom>
          <a:solidFill>
            <a:srgbClr val="F4F7FA"/>
          </a:solidFill>
          <a:ln w="12700">
            <a:solidFill>
              <a:srgbClr val="DDE8F0"/>
            </a:solidFill>
            <a:prstDash val="solid"/>
          </a:ln>
        </p:spPr>
      </p:sp>
      <p:sp>
        <p:nvSpPr>
          <p:cNvPr id="16" name="Text 13"/>
          <p:cNvSpPr/>
          <p:nvPr/>
        </p:nvSpPr>
        <p:spPr>
          <a:xfrm>
            <a:off x="6492240" y="3931920"/>
            <a:ext cx="237744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Reg. Logística</a:t>
            </a:r>
            <a:endParaRPr lang="en-US" sz="1000" dirty="0"/>
          </a:p>
        </p:txBody>
      </p:sp>
      <p:sp>
        <p:nvSpPr>
          <p:cNvPr id="17" name="Text 14"/>
          <p:cNvSpPr/>
          <p:nvPr/>
        </p:nvSpPr>
        <p:spPr>
          <a:xfrm>
            <a:off x="6492240" y="4178808"/>
            <a:ext cx="2377440" cy="256032"/>
          </a:xfrm>
          <a:prstGeom prst="rect">
            <a:avLst/>
          </a:prstGeom>
          <a:noFill/>
          <a:ln/>
        </p:spPr>
        <p:txBody>
          <a:bodyPr wrap="square" rtlCol="0" anchor="ctr"/>
          <a:lstStyle/>
          <a:p>
            <a:pPr algn="ctr" indent="0" marL="0">
              <a:buNone/>
            </a:pPr>
            <a:r>
              <a:rPr lang="en-US" sz="1300" b="1" dirty="0">
                <a:solidFill>
                  <a:srgbClr val="64748B"/>
                </a:solidFill>
                <a:latin typeface="Calibri" pitchFamily="34" charset="0"/>
                <a:ea typeface="Calibri" pitchFamily="34" charset="-122"/>
                <a:cs typeface="Calibri" pitchFamily="34" charset="-120"/>
              </a:rPr>
              <a:t>AUC = 0.8962</a:t>
            </a:r>
            <a:endParaRPr lang="en-US" sz="1300" dirty="0"/>
          </a:p>
        </p:txBody>
      </p:sp>
      <p:sp>
        <p:nvSpPr>
          <p:cNvPr id="18" name="Text 15"/>
          <p:cNvSpPr/>
          <p:nvPr/>
        </p:nvSpPr>
        <p:spPr>
          <a:xfrm>
            <a:off x="274320" y="4773168"/>
            <a:ext cx="8595360" cy="256032"/>
          </a:xfrm>
          <a:prstGeom prst="rect">
            <a:avLst/>
          </a:prstGeom>
          <a:noFill/>
          <a:ln/>
        </p:spPr>
        <p:txBody>
          <a:bodyPr wrap="square" rtlCol="0" anchor="ctr"/>
          <a:lstStyle/>
          <a:p>
            <a:pPr algn="ctr" indent="0" marL="0">
              <a:buNone/>
            </a:pPr>
            <a:r>
              <a:rPr lang="en-US" sz="950" i="1" dirty="0">
                <a:solidFill>
                  <a:srgbClr val="8899AA"/>
                </a:solidFill>
                <a:latin typeface="Calibri" pitchFamily="34" charset="0"/>
                <a:ea typeface="Calibri" pitchFamily="34" charset="-122"/>
                <a:cs typeface="Calibri" pitchFamily="34" charset="-120"/>
              </a:rPr>
              <a:t>AUC = 1.0 → modelo perfecto  ·  AUC = 0.5 → clasificación al azar  ·  One-vs-rest, promedio macro</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82880"/>
            <a:ext cx="2011680" cy="256032"/>
          </a:xfrm>
          <a:prstGeom prst="rect">
            <a:avLst>
              <a:gd name="adj" fmla="val 14286"/>
            </a:avLst>
          </a:prstGeom>
          <a:solidFill>
            <a:srgbClr val="E84855"/>
          </a:solidFill>
          <a:ln w="12700">
            <a:solidFill>
              <a:srgbClr val="E84855"/>
            </a:solidFill>
            <a:prstDash val="solid"/>
          </a:ln>
        </p:spPr>
      </p:sp>
      <p:sp>
        <p:nvSpPr>
          <p:cNvPr id="3" name="Text 1"/>
          <p:cNvSpPr/>
          <p:nvPr/>
        </p:nvSpPr>
        <p:spPr>
          <a:xfrm>
            <a:off x="365760" y="182880"/>
            <a:ext cx="2011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PASO 8: AJUSTE DE UMBRAL</a:t>
            </a:r>
            <a:endParaRPr lang="en-US" sz="1000" dirty="0"/>
          </a:p>
        </p:txBody>
      </p:sp>
      <p:sp>
        <p:nvSpPr>
          <p:cNvPr id="4" name="Text 2"/>
          <p:cNvSpPr/>
          <p:nvPr/>
        </p:nvSpPr>
        <p:spPr>
          <a:xfrm>
            <a:off x="365760" y="530352"/>
            <a:ext cx="8412480" cy="1097280"/>
          </a:xfrm>
          <a:prstGeom prst="rect">
            <a:avLst/>
          </a:prstGeom>
          <a:noFill/>
          <a:ln/>
        </p:spPr>
        <p:txBody>
          <a:bodyPr wrap="square" rtlCol="0" anchor="ctr"/>
          <a:lstStyle/>
          <a:p>
            <a:pPr indent="0" marL="0">
              <a:lnSpc>
                <a:spcPct val="110000"/>
              </a:lnSpc>
              <a:buNone/>
            </a:pPr>
            <a:r>
              <a:rPr lang="en-US" sz="2400" b="1" dirty="0">
                <a:solidFill>
                  <a:srgbClr val="0F2D54"/>
                </a:solidFill>
                <a:latin typeface="Calibri" pitchFamily="34" charset="0"/>
                <a:ea typeface="Calibri" pitchFamily="34" charset="-122"/>
                <a:cs typeface="Calibri" pitchFamily="34" charset="-120"/>
              </a:rPr>
              <a:t>Priorizamos Recall en Vulnerable —</a:t>
            </a:r>
            <a:endParaRPr lang="en-US" sz="2400" dirty="0"/>
          </a:p>
          <a:p>
            <a:pPr indent="0" marL="0">
              <a:lnSpc>
                <a:spcPct val="110000"/>
              </a:lnSpc>
              <a:buNone/>
            </a:pPr>
            <a:r>
              <a:rPr lang="en-US" sz="2400" b="1" dirty="0">
                <a:solidFill>
                  <a:srgbClr val="0F2D54"/>
                </a:solidFill>
                <a:latin typeface="Calibri" pitchFamily="34" charset="0"/>
                <a:ea typeface="Calibri" pitchFamily="34" charset="-122"/>
                <a:cs typeface="Calibri" pitchFamily="34" charset="-120"/>
              </a:rPr>
              <a:t>detectar más hogares en riesgo es la meta</a:t>
            </a:r>
            <a:endParaRPr lang="en-US" sz="2400" dirty="0"/>
          </a:p>
        </p:txBody>
      </p:sp>
      <p:sp>
        <p:nvSpPr>
          <p:cNvPr id="5" name="Shape 3"/>
          <p:cNvSpPr/>
          <p:nvPr/>
        </p:nvSpPr>
        <p:spPr>
          <a:xfrm>
            <a:off x="274320" y="1828800"/>
            <a:ext cx="4023360" cy="1371600"/>
          </a:xfrm>
          <a:prstGeom prst="rect">
            <a:avLst/>
          </a:prstGeom>
          <a:solidFill>
            <a:srgbClr val="FFF3CD"/>
          </a:solidFill>
          <a:ln w="12700">
            <a:solidFill>
              <a:srgbClr val="FFD700"/>
            </a:solidFill>
            <a:prstDash val="solid"/>
          </a:ln>
        </p:spPr>
      </p:sp>
      <p:sp>
        <p:nvSpPr>
          <p:cNvPr id="6" name="Text 4"/>
          <p:cNvSpPr/>
          <p:nvPr/>
        </p:nvSpPr>
        <p:spPr>
          <a:xfrm>
            <a:off x="274320" y="1901952"/>
            <a:ext cx="4023360" cy="274320"/>
          </a:xfrm>
          <a:prstGeom prst="rect">
            <a:avLst/>
          </a:prstGeom>
          <a:noFill/>
          <a:ln/>
        </p:spPr>
        <p:txBody>
          <a:bodyPr wrap="square" rtlCol="0" anchor="ctr"/>
          <a:lstStyle/>
          <a:p>
            <a:pPr algn="ctr" indent="0" marL="0">
              <a:buNone/>
            </a:pPr>
            <a:r>
              <a:rPr lang="en-US" sz="1100" b="1" dirty="0">
                <a:solidFill>
                  <a:srgbClr val="8B6914"/>
                </a:solidFill>
                <a:latin typeface="Calibri" pitchFamily="34" charset="0"/>
                <a:ea typeface="Calibri" pitchFamily="34" charset="-122"/>
                <a:cs typeface="Calibri" pitchFamily="34" charset="-120"/>
              </a:rPr>
              <a:t>Umbral por defecto: 0.5</a:t>
            </a:r>
            <a:endParaRPr lang="en-US" sz="1100" dirty="0"/>
          </a:p>
        </p:txBody>
      </p:sp>
      <p:sp>
        <p:nvSpPr>
          <p:cNvPr id="7" name="Text 5"/>
          <p:cNvSpPr/>
          <p:nvPr/>
        </p:nvSpPr>
        <p:spPr>
          <a:xfrm>
            <a:off x="365760" y="2212848"/>
            <a:ext cx="3840480" cy="914400"/>
          </a:xfrm>
          <a:prstGeom prst="rect">
            <a:avLst/>
          </a:prstGeom>
          <a:noFill/>
          <a:ln/>
        </p:spPr>
        <p:txBody>
          <a:bodyPr wrap="square" rtlCol="0" anchor="ctr"/>
          <a:lstStyle/>
          <a:p>
            <a:pPr indent="0" marL="0">
              <a:lnSpc>
                <a:spcPct val="130000"/>
              </a:lnSpc>
              <a:buNone/>
            </a:pPr>
            <a:r>
              <a:rPr lang="en-US" sz="1100" dirty="0">
                <a:solidFill>
                  <a:srgbClr val="5C4A1A"/>
                </a:solidFill>
                <a:latin typeface="Calibri" pitchFamily="34" charset="0"/>
                <a:ea typeface="Calibri" pitchFamily="34" charset="-122"/>
                <a:cs typeface="Calibri" pitchFamily="34" charset="-120"/>
              </a:rPr>
              <a:t>Recall Vulnerable: ~13%</a:t>
            </a:r>
            <a:endParaRPr lang="en-US" sz="1100" dirty="0"/>
          </a:p>
          <a:p>
            <a:pPr indent="0" marL="0">
              <a:lnSpc>
                <a:spcPct val="130000"/>
              </a:lnSpc>
              <a:buNone/>
            </a:pPr>
            <a:endParaRPr lang="en-US" sz="1100" dirty="0"/>
          </a:p>
          <a:p>
            <a:pPr indent="0" marL="0">
              <a:lnSpc>
                <a:spcPct val="130000"/>
              </a:lnSpc>
              <a:buNone/>
            </a:pPr>
            <a:r>
              <a:rPr lang="en-US" sz="1100" dirty="0">
                <a:solidFill>
                  <a:srgbClr val="5C4A1A"/>
                </a:solidFill>
                <a:latin typeface="Calibri" pitchFamily="34" charset="0"/>
                <a:ea typeface="Calibri" pitchFamily="34" charset="-122"/>
                <a:cs typeface="Calibri" pitchFamily="34" charset="-120"/>
              </a:rPr>
              <a:t>El modelo deja pasar el 87% de los hogares que van a caer en privación.</a:t>
            </a:r>
            <a:endParaRPr lang="en-US" sz="1100" dirty="0"/>
          </a:p>
        </p:txBody>
      </p:sp>
      <p:sp>
        <p:nvSpPr>
          <p:cNvPr id="8" name="Shape 6"/>
          <p:cNvSpPr/>
          <p:nvPr/>
        </p:nvSpPr>
        <p:spPr>
          <a:xfrm>
            <a:off x="4846320" y="1828800"/>
            <a:ext cx="4023360" cy="1371600"/>
          </a:xfrm>
          <a:prstGeom prst="rect">
            <a:avLst/>
          </a:prstGeom>
          <a:solidFill>
            <a:srgbClr val="E8F5E9"/>
          </a:solidFill>
          <a:ln w="12700">
            <a:solidFill>
              <a:srgbClr val="4CAF50"/>
            </a:solidFill>
            <a:prstDash val="solid"/>
          </a:ln>
        </p:spPr>
      </p:sp>
      <p:sp>
        <p:nvSpPr>
          <p:cNvPr id="9" name="Text 7"/>
          <p:cNvSpPr/>
          <p:nvPr/>
        </p:nvSpPr>
        <p:spPr>
          <a:xfrm>
            <a:off x="4846320" y="1901952"/>
            <a:ext cx="4023360" cy="274320"/>
          </a:xfrm>
          <a:prstGeom prst="rect">
            <a:avLst/>
          </a:prstGeom>
          <a:noFill/>
          <a:ln/>
        </p:spPr>
        <p:txBody>
          <a:bodyPr wrap="square" rtlCol="0" anchor="ctr"/>
          <a:lstStyle/>
          <a:p>
            <a:pPr algn="ctr" indent="0" marL="0">
              <a:buNone/>
            </a:pPr>
            <a:r>
              <a:rPr lang="en-US" sz="1100" b="1" dirty="0">
                <a:solidFill>
                  <a:srgbClr val="1B5E20"/>
                </a:solidFill>
                <a:latin typeface="Calibri" pitchFamily="34" charset="0"/>
                <a:ea typeface="Calibri" pitchFamily="34" charset="-122"/>
                <a:cs typeface="Calibri" pitchFamily="34" charset="-120"/>
              </a:rPr>
              <a:t>Umbral óptimo (ajustado)</a:t>
            </a:r>
            <a:endParaRPr lang="en-US" sz="1100" dirty="0"/>
          </a:p>
        </p:txBody>
      </p:sp>
      <p:sp>
        <p:nvSpPr>
          <p:cNvPr id="10" name="Text 8"/>
          <p:cNvSpPr/>
          <p:nvPr/>
        </p:nvSpPr>
        <p:spPr>
          <a:xfrm>
            <a:off x="4937760" y="2212848"/>
            <a:ext cx="3840480" cy="914400"/>
          </a:xfrm>
          <a:prstGeom prst="rect">
            <a:avLst/>
          </a:prstGeom>
          <a:noFill/>
          <a:ln/>
        </p:spPr>
        <p:txBody>
          <a:bodyPr wrap="square" rtlCol="0" anchor="ctr"/>
          <a:lstStyle/>
          <a:p>
            <a:pPr indent="0" marL="0">
              <a:lnSpc>
                <a:spcPct val="130000"/>
              </a:lnSpc>
              <a:buNone/>
            </a:pPr>
            <a:r>
              <a:rPr lang="en-US" sz="1100" dirty="0">
                <a:solidFill>
                  <a:srgbClr val="2E7D32"/>
                </a:solidFill>
                <a:latin typeface="Calibri" pitchFamily="34" charset="0"/>
                <a:ea typeface="Calibri" pitchFamily="34" charset="-122"/>
                <a:cs typeface="Calibri" pitchFamily="34" charset="-120"/>
              </a:rPr>
              <a:t>Recall Vulnerable: mayor</a:t>
            </a:r>
            <a:endParaRPr lang="en-US" sz="1100" dirty="0"/>
          </a:p>
          <a:p>
            <a:pPr indent="0" marL="0">
              <a:lnSpc>
                <a:spcPct val="130000"/>
              </a:lnSpc>
              <a:buNone/>
            </a:pPr>
            <a:endParaRPr lang="en-US" sz="1100" dirty="0"/>
          </a:p>
          <a:p>
            <a:pPr indent="0" marL="0">
              <a:lnSpc>
                <a:spcPct val="130000"/>
              </a:lnSpc>
              <a:buNone/>
            </a:pPr>
            <a:r>
              <a:rPr lang="en-US" sz="1100" dirty="0">
                <a:solidFill>
                  <a:srgbClr val="2E7D32"/>
                </a:solidFill>
                <a:latin typeface="Calibri" pitchFamily="34" charset="0"/>
                <a:ea typeface="Calibri" pitchFamily="34" charset="-122"/>
                <a:cs typeface="Calibri" pitchFamily="34" charset="-120"/>
              </a:rPr>
              <a:t>Detecta más hogares en riesgo real a costa de ligero aumento en falsos positivos.</a:t>
            </a:r>
            <a:endParaRPr lang="en-US" sz="1100" dirty="0"/>
          </a:p>
        </p:txBody>
      </p:sp>
      <p:sp>
        <p:nvSpPr>
          <p:cNvPr id="11" name="Text 9"/>
          <p:cNvSpPr/>
          <p:nvPr/>
        </p:nvSpPr>
        <p:spPr>
          <a:xfrm>
            <a:off x="4343400" y="2331720"/>
            <a:ext cx="457200" cy="548640"/>
          </a:xfrm>
          <a:prstGeom prst="rect">
            <a:avLst/>
          </a:prstGeom>
          <a:noFill/>
          <a:ln/>
        </p:spPr>
        <p:txBody>
          <a:bodyPr wrap="square" rtlCol="0" anchor="ctr"/>
          <a:lstStyle/>
          <a:p>
            <a:pPr algn="ctr" indent="0" marL="0">
              <a:buNone/>
            </a:pPr>
            <a:r>
              <a:rPr lang="en-US" sz="2800" b="1" dirty="0">
                <a:solidFill>
                  <a:srgbClr val="1F4E79"/>
                </a:solidFill>
                <a:latin typeface="Calibri" pitchFamily="34" charset="0"/>
                <a:ea typeface="Calibri" pitchFamily="34" charset="-122"/>
                <a:cs typeface="Calibri" pitchFamily="34" charset="-120"/>
              </a:rPr>
              <a:t>→</a:t>
            </a:r>
            <a:endParaRPr lang="en-US" sz="2800" dirty="0"/>
          </a:p>
        </p:txBody>
      </p:sp>
      <p:sp>
        <p:nvSpPr>
          <p:cNvPr id="12" name="Shape 10"/>
          <p:cNvSpPr/>
          <p:nvPr/>
        </p:nvSpPr>
        <p:spPr>
          <a:xfrm>
            <a:off x="274320" y="3337560"/>
            <a:ext cx="8595360" cy="914400"/>
          </a:xfrm>
          <a:prstGeom prst="rect">
            <a:avLst/>
          </a:prstGeom>
          <a:solidFill>
            <a:srgbClr val="EFF6FF"/>
          </a:solidFill>
          <a:ln w="12700">
            <a:solidFill>
              <a:srgbClr val="BFDBFE"/>
            </a:solidFill>
            <a:prstDash val="solid"/>
          </a:ln>
        </p:spPr>
      </p:sp>
      <p:sp>
        <p:nvSpPr>
          <p:cNvPr id="13" name="Text 11"/>
          <p:cNvSpPr/>
          <p:nvPr/>
        </p:nvSpPr>
        <p:spPr>
          <a:xfrm>
            <a:off x="411480" y="3401568"/>
            <a:ext cx="8321040" cy="777240"/>
          </a:xfrm>
          <a:prstGeom prst="rect">
            <a:avLst/>
          </a:prstGeom>
          <a:noFill/>
          <a:ln/>
        </p:spPr>
        <p:txBody>
          <a:bodyPr wrap="square" rtlCol="0" anchor="ctr"/>
          <a:lstStyle/>
          <a:p>
            <a:pPr indent="0" marL="0">
              <a:lnSpc>
                <a:spcPct val="125000"/>
              </a:lnSpc>
              <a:buNone/>
            </a:pPr>
            <a:r>
              <a:rPr lang="en-US" sz="1100" b="1" dirty="0">
                <a:solidFill>
                  <a:srgbClr val="1F4E79"/>
                </a:solidFill>
                <a:latin typeface="Calibri" pitchFamily="34" charset="0"/>
                <a:ea typeface="Calibri" pitchFamily="34" charset="-122"/>
                <a:cs typeface="Calibri" pitchFamily="34" charset="-120"/>
              </a:rPr>
              <a:t>¿Por qué priorizar Recall?  </a:t>
            </a:r>
            <a:pPr indent="0" marL="0">
              <a:lnSpc>
                <a:spcPct val="125000"/>
              </a:lnSpc>
              <a:buNone/>
            </a:pPr>
            <a:r>
              <a:rPr lang="en-US" sz="1100" dirty="0">
                <a:solidFill>
                  <a:srgbClr val="334466"/>
                </a:solidFill>
                <a:latin typeface="Calibri" pitchFamily="34" charset="0"/>
                <a:ea typeface="Calibri" pitchFamily="34" charset="-122"/>
                <a:cs typeface="Calibri" pitchFamily="34" charset="-120"/>
              </a:rPr>
              <a:t>El costo de apoyar un hogar que no iba a caer (falso positivo) es mucho menor que el costo de no intervenir en un hogar que sí cae en privación crónica (falso negativo). Para política pública preventiva, es mejor tener más cobertura aunque no todos la necesiten.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82880"/>
            <a:ext cx="2011680" cy="256032"/>
          </a:xfrm>
          <a:prstGeom prst="rect">
            <a:avLst>
              <a:gd name="adj" fmla="val 14286"/>
            </a:avLst>
          </a:prstGeom>
          <a:solidFill>
            <a:srgbClr val="E84855"/>
          </a:solidFill>
          <a:ln w="12700">
            <a:solidFill>
              <a:srgbClr val="E84855"/>
            </a:solidFill>
            <a:prstDash val="solid"/>
          </a:ln>
        </p:spPr>
      </p:sp>
      <p:sp>
        <p:nvSpPr>
          <p:cNvPr id="3" name="Text 1"/>
          <p:cNvSpPr/>
          <p:nvPr/>
        </p:nvSpPr>
        <p:spPr>
          <a:xfrm>
            <a:off x="365760" y="182880"/>
            <a:ext cx="2011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PASO 8: AJUSTE DE UMBRAL</a:t>
            </a:r>
            <a:endParaRPr lang="en-US" sz="1000" dirty="0"/>
          </a:p>
        </p:txBody>
      </p:sp>
      <p:sp>
        <p:nvSpPr>
          <p:cNvPr id="4" name="Text 2"/>
          <p:cNvSpPr/>
          <p:nvPr/>
        </p:nvSpPr>
        <p:spPr>
          <a:xfrm>
            <a:off x="365760" y="530352"/>
            <a:ext cx="8412480" cy="1097280"/>
          </a:xfrm>
          <a:prstGeom prst="rect">
            <a:avLst/>
          </a:prstGeom>
          <a:noFill/>
          <a:ln/>
        </p:spPr>
        <p:txBody>
          <a:bodyPr wrap="square" rtlCol="0" anchor="ctr"/>
          <a:lstStyle/>
          <a:p>
            <a:pPr indent="0" marL="0">
              <a:lnSpc>
                <a:spcPct val="110000"/>
              </a:lnSpc>
              <a:buNone/>
            </a:pPr>
            <a:r>
              <a:rPr lang="en-US" sz="2400" b="1" dirty="0">
                <a:solidFill>
                  <a:srgbClr val="0F2D54"/>
                </a:solidFill>
                <a:latin typeface="Calibri" pitchFamily="34" charset="0"/>
                <a:ea typeface="Calibri" pitchFamily="34" charset="-122"/>
                <a:cs typeface="Calibri" pitchFamily="34" charset="-120"/>
              </a:rPr>
              <a:t>Umbral óptimo = 0.19 — detecta más</a:t>
            </a:r>
            <a:endParaRPr lang="en-US" sz="2400" dirty="0"/>
          </a:p>
          <a:p>
            <a:pPr indent="0" marL="0">
              <a:lnSpc>
                <a:spcPct val="110000"/>
              </a:lnSpc>
              <a:buNone/>
            </a:pPr>
            <a:r>
              <a:rPr lang="en-US" sz="2400" b="1" dirty="0">
                <a:solidFill>
                  <a:srgbClr val="0F2D54"/>
                </a:solidFill>
                <a:latin typeface="Calibri" pitchFamily="34" charset="0"/>
                <a:ea typeface="Calibri" pitchFamily="34" charset="-122"/>
                <a:cs typeface="Calibri" pitchFamily="34" charset="-120"/>
              </a:rPr>
              <a:t>hogares vulnerables con mayor Recall</a:t>
            </a:r>
            <a:endParaRPr lang="en-US" sz="2400" dirty="0"/>
          </a:p>
        </p:txBody>
      </p:sp>
      <p:pic>
        <p:nvPicPr>
          <p:cNvPr id="5" name="Image 0" descr="preencoded.png">    </p:cNvPr>
          <p:cNvPicPr>
            <a:picLocks noChangeAspect="1"/>
          </p:cNvPicPr>
          <p:nvPr/>
        </p:nvPicPr>
        <p:blipFill>
          <a:blip r:embed="rId1"/>
          <a:stretch>
            <a:fillRect/>
          </a:stretch>
        </p:blipFill>
        <p:spPr>
          <a:xfrm>
            <a:off x="365760" y="1737360"/>
            <a:ext cx="8412480" cy="3200400"/>
          </a:xfrm>
          <a:prstGeom prst="rect">
            <a:avLst/>
          </a:prstGeom>
        </p:spPr>
      </p:pic>
      <p:sp>
        <p:nvSpPr>
          <p:cNvPr id="6" name="Text 3"/>
          <p:cNvSpPr/>
          <p:nvPr/>
        </p:nvSpPr>
        <p:spPr>
          <a:xfrm>
            <a:off x="274320" y="4773168"/>
            <a:ext cx="8595360" cy="256032"/>
          </a:xfrm>
          <a:prstGeom prst="rect">
            <a:avLst/>
          </a:prstGeom>
          <a:noFill/>
          <a:ln/>
        </p:spPr>
        <p:txBody>
          <a:bodyPr wrap="square" rtlCol="0" anchor="ctr"/>
          <a:lstStyle/>
          <a:p>
            <a:pPr algn="ctr" indent="0" marL="0">
              <a:buNone/>
            </a:pPr>
            <a:r>
              <a:rPr lang="en-US" sz="950" i="1" dirty="0">
                <a:solidFill>
                  <a:srgbClr val="8899AA"/>
                </a:solidFill>
                <a:latin typeface="Calibri" pitchFamily="34" charset="0"/>
                <a:ea typeface="Calibri" pitchFamily="34" charset="-122"/>
                <a:cs typeface="Calibri" pitchFamily="34" charset="-120"/>
              </a:rPr>
              <a:t>Con umbral 0.5 → Recall Vulnerable: 13%  ·  Con umbral óptimo 0.19 → Recall Vulnerable: mayor  ·  Priorizar Recall = detectar más hogares en riesgo antes de que caigan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82880"/>
            <a:ext cx="2011680" cy="256032"/>
          </a:xfrm>
          <a:prstGeom prst="rect">
            <a:avLst>
              <a:gd name="adj" fmla="val 14286"/>
            </a:avLst>
          </a:prstGeom>
          <a:solidFill>
            <a:srgbClr val="E84855"/>
          </a:solidFill>
          <a:ln w="12700">
            <a:solidFill>
              <a:srgbClr val="E84855"/>
            </a:solidFill>
            <a:prstDash val="solid"/>
          </a:ln>
        </p:spPr>
      </p:sp>
      <p:sp>
        <p:nvSpPr>
          <p:cNvPr id="3" name="Text 1"/>
          <p:cNvSpPr/>
          <p:nvPr/>
        </p:nvSpPr>
        <p:spPr>
          <a:xfrm>
            <a:off x="365760" y="182880"/>
            <a:ext cx="2011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LÍMITES DEL MODELO</a:t>
            </a:r>
            <a:endParaRPr lang="en-US" sz="1000" dirty="0"/>
          </a:p>
        </p:txBody>
      </p:sp>
      <p:sp>
        <p:nvSpPr>
          <p:cNvPr id="4" name="Text 2"/>
          <p:cNvSpPr/>
          <p:nvPr/>
        </p:nvSpPr>
        <p:spPr>
          <a:xfrm>
            <a:off x="365760" y="530352"/>
            <a:ext cx="8412480" cy="1097280"/>
          </a:xfrm>
          <a:prstGeom prst="rect">
            <a:avLst/>
          </a:prstGeom>
          <a:noFill/>
          <a:ln/>
        </p:spPr>
        <p:txBody>
          <a:bodyPr wrap="square" rtlCol="0" anchor="ctr"/>
          <a:lstStyle/>
          <a:p>
            <a:pPr indent="0" marL="0">
              <a:lnSpc>
                <a:spcPct val="110000"/>
              </a:lnSpc>
              <a:buNone/>
            </a:pPr>
            <a:r>
              <a:rPr lang="en-US" sz="2600" b="1" dirty="0">
                <a:solidFill>
                  <a:srgbClr val="0F2D54"/>
                </a:solidFill>
                <a:latin typeface="Calibri" pitchFamily="34" charset="0"/>
                <a:ea typeface="Calibri" pitchFamily="34" charset="-122"/>
                <a:cs typeface="Calibri" pitchFamily="34" charset="-120"/>
              </a:rPr>
              <a:t>Excelente para estados persistentes —</a:t>
            </a:r>
            <a:endParaRPr lang="en-US" sz="2600" dirty="0"/>
          </a:p>
          <a:p>
            <a:pPr indent="0" marL="0">
              <a:lnSpc>
                <a:spcPct val="110000"/>
              </a:lnSpc>
              <a:buNone/>
            </a:pPr>
            <a:r>
              <a:rPr lang="en-US" sz="2600" b="1" dirty="0">
                <a:solidFill>
                  <a:srgbClr val="0F2D54"/>
                </a:solidFill>
                <a:latin typeface="Calibri" pitchFamily="34" charset="0"/>
                <a:ea typeface="Calibri" pitchFamily="34" charset="-122"/>
                <a:cs typeface="Calibri" pitchFamily="34" charset="-120"/>
              </a:rPr>
              <a:t>limitado para transiciones dinámicas</a:t>
            </a:r>
            <a:endParaRPr lang="en-US" sz="2600" dirty="0"/>
          </a:p>
        </p:txBody>
      </p:sp>
      <p:sp>
        <p:nvSpPr>
          <p:cNvPr id="5" name="Shape 3"/>
          <p:cNvSpPr/>
          <p:nvPr/>
        </p:nvSpPr>
        <p:spPr>
          <a:xfrm>
            <a:off x="274320" y="1828800"/>
            <a:ext cx="2011680" cy="2103120"/>
          </a:xfrm>
          <a:prstGeom prst="rect">
            <a:avLst/>
          </a:prstGeom>
          <a:solidFill>
            <a:srgbClr val="F4F7FA"/>
          </a:solidFill>
          <a:ln w="12700">
            <a:solidFill>
              <a:srgbClr val="E0E8F0"/>
            </a:solidFill>
            <a:prstDash val="solid"/>
          </a:ln>
        </p:spPr>
      </p:sp>
      <p:sp>
        <p:nvSpPr>
          <p:cNvPr id="6" name="Shape 4"/>
          <p:cNvSpPr/>
          <p:nvPr/>
        </p:nvSpPr>
        <p:spPr>
          <a:xfrm>
            <a:off x="274320" y="1828800"/>
            <a:ext cx="2011680" cy="64008"/>
          </a:xfrm>
          <a:prstGeom prst="rect">
            <a:avLst/>
          </a:prstGeom>
          <a:solidFill>
            <a:srgbClr val="2E86AB"/>
          </a:solidFill>
          <a:ln w="12700">
            <a:solidFill>
              <a:srgbClr val="2E86AB"/>
            </a:solidFill>
            <a:prstDash val="solid"/>
          </a:ln>
        </p:spPr>
      </p:sp>
      <p:sp>
        <p:nvSpPr>
          <p:cNvPr id="7" name="Text 5"/>
          <p:cNvSpPr/>
          <p:nvPr/>
        </p:nvSpPr>
        <p:spPr>
          <a:xfrm>
            <a:off x="274320" y="1938528"/>
            <a:ext cx="2011680" cy="256032"/>
          </a:xfrm>
          <a:prstGeom prst="rect">
            <a:avLst/>
          </a:prstGeom>
          <a:noFill/>
          <a:ln/>
        </p:spPr>
        <p:txBody>
          <a:bodyPr wrap="square" lIns="0" tIns="0" rIns="0" bIns="0" rtlCol="0" anchor="ctr"/>
          <a:lstStyle/>
          <a:p>
            <a:pPr algn="ctr" indent="0" marL="0">
              <a:buNone/>
            </a:pPr>
            <a:r>
              <a:rPr lang="en-US" sz="1100" b="1" dirty="0">
                <a:solidFill>
                  <a:srgbClr val="2E86AB"/>
                </a:solidFill>
                <a:latin typeface="Calibri" pitchFamily="34" charset="0"/>
                <a:ea typeface="Calibri" pitchFamily="34" charset="-122"/>
                <a:cs typeface="Calibri" pitchFamily="34" charset="-120"/>
              </a:rPr>
              <a:t>Estable</a:t>
            </a:r>
            <a:endParaRPr lang="en-US" sz="1100" dirty="0"/>
          </a:p>
        </p:txBody>
      </p:sp>
      <p:sp>
        <p:nvSpPr>
          <p:cNvPr id="8" name="Text 6"/>
          <p:cNvSpPr/>
          <p:nvPr/>
        </p:nvSpPr>
        <p:spPr>
          <a:xfrm>
            <a:off x="274320" y="2231136"/>
            <a:ext cx="2011680" cy="685800"/>
          </a:xfrm>
          <a:prstGeom prst="rect">
            <a:avLst/>
          </a:prstGeom>
          <a:noFill/>
          <a:ln/>
        </p:spPr>
        <p:txBody>
          <a:bodyPr wrap="square" lIns="0" tIns="0" rIns="0" bIns="0" rtlCol="0" anchor="ctr"/>
          <a:lstStyle/>
          <a:p>
            <a:pPr algn="ctr" indent="0" marL="0">
              <a:buNone/>
            </a:pPr>
            <a:r>
              <a:rPr lang="en-US" sz="3400" b="1" dirty="0">
                <a:solidFill>
                  <a:srgbClr val="2E86AB"/>
                </a:solidFill>
                <a:latin typeface="Calibri" pitchFamily="34" charset="0"/>
                <a:ea typeface="Calibri" pitchFamily="34" charset="-122"/>
                <a:cs typeface="Calibri" pitchFamily="34" charset="-120"/>
              </a:rPr>
              <a:t>71.5%</a:t>
            </a:r>
            <a:endParaRPr lang="en-US" sz="3400" dirty="0"/>
          </a:p>
        </p:txBody>
      </p:sp>
      <p:sp>
        <p:nvSpPr>
          <p:cNvPr id="9" name="Text 7"/>
          <p:cNvSpPr/>
          <p:nvPr/>
        </p:nvSpPr>
        <p:spPr>
          <a:xfrm>
            <a:off x="274320" y="2944368"/>
            <a:ext cx="2011680" cy="38404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predicho</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correctamente</a:t>
            </a:r>
            <a:endParaRPr lang="en-US" sz="900" dirty="0"/>
          </a:p>
        </p:txBody>
      </p:sp>
      <p:sp>
        <p:nvSpPr>
          <p:cNvPr id="10" name="Text 8"/>
          <p:cNvSpPr/>
          <p:nvPr/>
        </p:nvSpPr>
        <p:spPr>
          <a:xfrm>
            <a:off x="365760" y="3364992"/>
            <a:ext cx="1828800" cy="502920"/>
          </a:xfrm>
          <a:prstGeom prst="rect">
            <a:avLst/>
          </a:prstGeom>
          <a:noFill/>
          <a:ln/>
        </p:spPr>
        <p:txBody>
          <a:bodyPr wrap="square" rtlCol="0" anchor="ctr"/>
          <a:lstStyle/>
          <a:p>
            <a:pPr algn="ctr" indent="0" marL="0">
              <a:lnSpc>
                <a:spcPct val="120000"/>
              </a:lnSpc>
              <a:buNone/>
            </a:pPr>
            <a:r>
              <a:rPr lang="en-US" sz="900" dirty="0">
                <a:solidFill>
                  <a:srgbClr val="556677"/>
                </a:solidFill>
                <a:latin typeface="Calibri" pitchFamily="34" charset="0"/>
                <a:ea typeface="Calibri" pitchFamily="34" charset="-122"/>
                <a:cs typeface="Calibri" pitchFamily="34" charset="-120"/>
              </a:rPr>
              <a:t>1.169 / 1.634</a:t>
            </a:r>
            <a:endParaRPr lang="en-US" sz="900" dirty="0"/>
          </a:p>
          <a:p>
            <a:pPr algn="ctr" indent="0" marL="0">
              <a:lnSpc>
                <a:spcPct val="120000"/>
              </a:lnSpc>
              <a:buNone/>
            </a:pPr>
            <a:r>
              <a:rPr lang="en-US" sz="900" dirty="0">
                <a:solidFill>
                  <a:srgbClr val="556677"/>
                </a:solidFill>
                <a:latin typeface="Calibri" pitchFamily="34" charset="0"/>
                <a:ea typeface="Calibri" pitchFamily="34" charset="-122"/>
                <a:cs typeface="Calibri" pitchFamily="34" charset="-120"/>
              </a:rPr>
              <a:t>correctamente</a:t>
            </a:r>
            <a:endParaRPr lang="en-US" sz="900" dirty="0"/>
          </a:p>
        </p:txBody>
      </p:sp>
      <p:sp>
        <p:nvSpPr>
          <p:cNvPr id="11" name="Shape 9"/>
          <p:cNvSpPr/>
          <p:nvPr/>
        </p:nvSpPr>
        <p:spPr>
          <a:xfrm>
            <a:off x="2468880" y="1828800"/>
            <a:ext cx="2011680" cy="2103120"/>
          </a:xfrm>
          <a:prstGeom prst="rect">
            <a:avLst/>
          </a:prstGeom>
          <a:solidFill>
            <a:srgbClr val="F4F7FA"/>
          </a:solidFill>
          <a:ln w="12700">
            <a:solidFill>
              <a:srgbClr val="E0E8F0"/>
            </a:solidFill>
            <a:prstDash val="solid"/>
          </a:ln>
        </p:spPr>
      </p:sp>
      <p:sp>
        <p:nvSpPr>
          <p:cNvPr id="12" name="Shape 10"/>
          <p:cNvSpPr/>
          <p:nvPr/>
        </p:nvSpPr>
        <p:spPr>
          <a:xfrm>
            <a:off x="2468880" y="1828800"/>
            <a:ext cx="2011680" cy="64008"/>
          </a:xfrm>
          <a:prstGeom prst="rect">
            <a:avLst/>
          </a:prstGeom>
          <a:solidFill>
            <a:srgbClr val="3BB273"/>
          </a:solidFill>
          <a:ln w="12700">
            <a:solidFill>
              <a:srgbClr val="3BB273"/>
            </a:solidFill>
            <a:prstDash val="solid"/>
          </a:ln>
        </p:spPr>
      </p:sp>
      <p:sp>
        <p:nvSpPr>
          <p:cNvPr id="13" name="Text 11"/>
          <p:cNvSpPr/>
          <p:nvPr/>
        </p:nvSpPr>
        <p:spPr>
          <a:xfrm>
            <a:off x="2468880" y="1938528"/>
            <a:ext cx="2011680" cy="256032"/>
          </a:xfrm>
          <a:prstGeom prst="rect">
            <a:avLst/>
          </a:prstGeom>
          <a:noFill/>
          <a:ln/>
        </p:spPr>
        <p:txBody>
          <a:bodyPr wrap="square" lIns="0" tIns="0" rIns="0" bIns="0" rtlCol="0" anchor="ctr"/>
          <a:lstStyle/>
          <a:p>
            <a:pPr algn="ctr" indent="0" marL="0">
              <a:buNone/>
            </a:pPr>
            <a:r>
              <a:rPr lang="en-US" sz="1100" b="1" dirty="0">
                <a:solidFill>
                  <a:srgbClr val="3BB273"/>
                </a:solidFill>
                <a:latin typeface="Calibri" pitchFamily="34" charset="0"/>
                <a:ea typeface="Calibri" pitchFamily="34" charset="-122"/>
                <a:cs typeface="Calibri" pitchFamily="34" charset="-120"/>
              </a:rPr>
              <a:t>Crónico</a:t>
            </a:r>
            <a:endParaRPr lang="en-US" sz="1100" dirty="0"/>
          </a:p>
        </p:txBody>
      </p:sp>
      <p:sp>
        <p:nvSpPr>
          <p:cNvPr id="14" name="Text 12"/>
          <p:cNvSpPr/>
          <p:nvPr/>
        </p:nvSpPr>
        <p:spPr>
          <a:xfrm>
            <a:off x="2468880" y="2231136"/>
            <a:ext cx="2011680" cy="685800"/>
          </a:xfrm>
          <a:prstGeom prst="rect">
            <a:avLst/>
          </a:prstGeom>
          <a:noFill/>
          <a:ln/>
        </p:spPr>
        <p:txBody>
          <a:bodyPr wrap="square" lIns="0" tIns="0" rIns="0" bIns="0" rtlCol="0" anchor="ctr"/>
          <a:lstStyle/>
          <a:p>
            <a:pPr algn="ctr" indent="0" marL="0">
              <a:buNone/>
            </a:pPr>
            <a:r>
              <a:rPr lang="en-US" sz="3400" b="1" dirty="0">
                <a:solidFill>
                  <a:srgbClr val="3BB273"/>
                </a:solidFill>
                <a:latin typeface="Calibri" pitchFamily="34" charset="0"/>
                <a:ea typeface="Calibri" pitchFamily="34" charset="-122"/>
                <a:cs typeface="Calibri" pitchFamily="34" charset="-120"/>
              </a:rPr>
              <a:t>87.7%</a:t>
            </a:r>
            <a:endParaRPr lang="en-US" sz="3400" dirty="0"/>
          </a:p>
        </p:txBody>
      </p:sp>
      <p:sp>
        <p:nvSpPr>
          <p:cNvPr id="15" name="Text 13"/>
          <p:cNvSpPr/>
          <p:nvPr/>
        </p:nvSpPr>
        <p:spPr>
          <a:xfrm>
            <a:off x="2468880" y="2944368"/>
            <a:ext cx="2011680" cy="38404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predicho</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correctamente</a:t>
            </a:r>
            <a:endParaRPr lang="en-US" sz="900" dirty="0"/>
          </a:p>
        </p:txBody>
      </p:sp>
      <p:sp>
        <p:nvSpPr>
          <p:cNvPr id="16" name="Text 14"/>
          <p:cNvSpPr/>
          <p:nvPr/>
        </p:nvSpPr>
        <p:spPr>
          <a:xfrm>
            <a:off x="2560320" y="3364992"/>
            <a:ext cx="1828800" cy="502920"/>
          </a:xfrm>
          <a:prstGeom prst="rect">
            <a:avLst/>
          </a:prstGeom>
          <a:noFill/>
          <a:ln/>
        </p:spPr>
        <p:txBody>
          <a:bodyPr wrap="square" rtlCol="0" anchor="ctr"/>
          <a:lstStyle/>
          <a:p>
            <a:pPr algn="ctr" indent="0" marL="0">
              <a:lnSpc>
                <a:spcPct val="120000"/>
              </a:lnSpc>
              <a:buNone/>
            </a:pPr>
            <a:r>
              <a:rPr lang="en-US" sz="900" dirty="0">
                <a:solidFill>
                  <a:srgbClr val="556677"/>
                </a:solidFill>
                <a:latin typeface="Calibri" pitchFamily="34" charset="0"/>
                <a:ea typeface="Calibri" pitchFamily="34" charset="-122"/>
                <a:cs typeface="Calibri" pitchFamily="34" charset="-120"/>
              </a:rPr>
              <a:t>872 / 994</a:t>
            </a:r>
            <a:endParaRPr lang="en-US" sz="900" dirty="0"/>
          </a:p>
          <a:p>
            <a:pPr algn="ctr" indent="0" marL="0">
              <a:lnSpc>
                <a:spcPct val="120000"/>
              </a:lnSpc>
              <a:buNone/>
            </a:pPr>
            <a:r>
              <a:rPr lang="en-US" sz="900" dirty="0">
                <a:solidFill>
                  <a:srgbClr val="556677"/>
                </a:solidFill>
                <a:latin typeface="Calibri" pitchFamily="34" charset="0"/>
                <a:ea typeface="Calibri" pitchFamily="34" charset="-122"/>
                <a:cs typeface="Calibri" pitchFamily="34" charset="-120"/>
              </a:rPr>
              <a:t>correctamente</a:t>
            </a:r>
            <a:endParaRPr lang="en-US" sz="900" dirty="0"/>
          </a:p>
        </p:txBody>
      </p:sp>
      <p:sp>
        <p:nvSpPr>
          <p:cNvPr id="17" name="Shape 15"/>
          <p:cNvSpPr/>
          <p:nvPr/>
        </p:nvSpPr>
        <p:spPr>
          <a:xfrm>
            <a:off x="4663440" y="1828800"/>
            <a:ext cx="2011680" cy="2103120"/>
          </a:xfrm>
          <a:prstGeom prst="rect">
            <a:avLst/>
          </a:prstGeom>
          <a:solidFill>
            <a:srgbClr val="F4F7FA"/>
          </a:solidFill>
          <a:ln w="12700">
            <a:solidFill>
              <a:srgbClr val="E0E8F0"/>
            </a:solidFill>
            <a:prstDash val="solid"/>
          </a:ln>
        </p:spPr>
      </p:sp>
      <p:sp>
        <p:nvSpPr>
          <p:cNvPr id="18" name="Shape 16"/>
          <p:cNvSpPr/>
          <p:nvPr/>
        </p:nvSpPr>
        <p:spPr>
          <a:xfrm>
            <a:off x="4663440" y="1828800"/>
            <a:ext cx="2011680" cy="64008"/>
          </a:xfrm>
          <a:prstGeom prst="rect">
            <a:avLst/>
          </a:prstGeom>
          <a:solidFill>
            <a:srgbClr val="E84855"/>
          </a:solidFill>
          <a:ln w="12700">
            <a:solidFill>
              <a:srgbClr val="E84855"/>
            </a:solidFill>
            <a:prstDash val="solid"/>
          </a:ln>
        </p:spPr>
      </p:sp>
      <p:sp>
        <p:nvSpPr>
          <p:cNvPr id="19" name="Text 17"/>
          <p:cNvSpPr/>
          <p:nvPr/>
        </p:nvSpPr>
        <p:spPr>
          <a:xfrm>
            <a:off x="4663440" y="1938528"/>
            <a:ext cx="2011680" cy="256032"/>
          </a:xfrm>
          <a:prstGeom prst="rect">
            <a:avLst/>
          </a:prstGeom>
          <a:noFill/>
          <a:ln/>
        </p:spPr>
        <p:txBody>
          <a:bodyPr wrap="square" lIns="0" tIns="0" rIns="0" bIns="0" rtlCol="0" anchor="ctr"/>
          <a:lstStyle/>
          <a:p>
            <a:pPr algn="ctr" indent="0" marL="0">
              <a:buNone/>
            </a:pPr>
            <a:r>
              <a:rPr lang="en-US" sz="1100" b="1" dirty="0">
                <a:solidFill>
                  <a:srgbClr val="E84855"/>
                </a:solidFill>
                <a:latin typeface="Calibri" pitchFamily="34" charset="0"/>
                <a:ea typeface="Calibri" pitchFamily="34" charset="-122"/>
                <a:cs typeface="Calibri" pitchFamily="34" charset="-120"/>
              </a:rPr>
              <a:t>Vulnerable</a:t>
            </a:r>
            <a:endParaRPr lang="en-US" sz="1100" dirty="0"/>
          </a:p>
        </p:txBody>
      </p:sp>
      <p:sp>
        <p:nvSpPr>
          <p:cNvPr id="20" name="Text 18"/>
          <p:cNvSpPr/>
          <p:nvPr/>
        </p:nvSpPr>
        <p:spPr>
          <a:xfrm>
            <a:off x="4663440" y="2231136"/>
            <a:ext cx="2011680" cy="685800"/>
          </a:xfrm>
          <a:prstGeom prst="rect">
            <a:avLst/>
          </a:prstGeom>
          <a:noFill/>
          <a:ln/>
        </p:spPr>
        <p:txBody>
          <a:bodyPr wrap="square" lIns="0" tIns="0" rIns="0" bIns="0" rtlCol="0" anchor="ctr"/>
          <a:lstStyle/>
          <a:p>
            <a:pPr algn="ctr" indent="0" marL="0">
              <a:buNone/>
            </a:pPr>
            <a:r>
              <a:rPr lang="en-US" sz="3400" b="1" dirty="0">
                <a:solidFill>
                  <a:srgbClr val="E84855"/>
                </a:solidFill>
                <a:latin typeface="Calibri" pitchFamily="34" charset="0"/>
                <a:ea typeface="Calibri" pitchFamily="34" charset="-122"/>
                <a:cs typeface="Calibri" pitchFamily="34" charset="-120"/>
              </a:rPr>
              <a:t>74.4%</a:t>
            </a:r>
            <a:endParaRPr lang="en-US" sz="3400" dirty="0"/>
          </a:p>
        </p:txBody>
      </p:sp>
      <p:sp>
        <p:nvSpPr>
          <p:cNvPr id="21" name="Text 19"/>
          <p:cNvSpPr/>
          <p:nvPr/>
        </p:nvSpPr>
        <p:spPr>
          <a:xfrm>
            <a:off x="4663440" y="2944368"/>
            <a:ext cx="2011680" cy="38404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predicho</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correctamente</a:t>
            </a:r>
            <a:endParaRPr lang="en-US" sz="900" dirty="0"/>
          </a:p>
        </p:txBody>
      </p:sp>
      <p:sp>
        <p:nvSpPr>
          <p:cNvPr id="22" name="Text 20"/>
          <p:cNvSpPr/>
          <p:nvPr/>
        </p:nvSpPr>
        <p:spPr>
          <a:xfrm>
            <a:off x="4754880" y="3364992"/>
            <a:ext cx="1828800" cy="502920"/>
          </a:xfrm>
          <a:prstGeom prst="rect">
            <a:avLst/>
          </a:prstGeom>
          <a:noFill/>
          <a:ln/>
        </p:spPr>
        <p:txBody>
          <a:bodyPr wrap="square" rtlCol="0" anchor="ctr"/>
          <a:lstStyle/>
          <a:p>
            <a:pPr algn="ctr" indent="0" marL="0">
              <a:lnSpc>
                <a:spcPct val="120000"/>
              </a:lnSpc>
              <a:buNone/>
            </a:pPr>
            <a:r>
              <a:rPr lang="en-US" sz="900" dirty="0">
                <a:solidFill>
                  <a:srgbClr val="556677"/>
                </a:solidFill>
                <a:latin typeface="Calibri" pitchFamily="34" charset="0"/>
                <a:ea typeface="Calibri" pitchFamily="34" charset="-122"/>
                <a:cs typeface="Calibri" pitchFamily="34" charset="-120"/>
              </a:rPr>
              <a:t>265 / 356</a:t>
            </a:r>
            <a:endParaRPr lang="en-US" sz="900" dirty="0"/>
          </a:p>
          <a:p>
            <a:pPr algn="ctr" indent="0" marL="0">
              <a:lnSpc>
                <a:spcPct val="120000"/>
              </a:lnSpc>
              <a:buNone/>
            </a:pPr>
            <a:r>
              <a:rPr lang="en-US" sz="900" dirty="0">
                <a:solidFill>
                  <a:srgbClr val="556677"/>
                </a:solidFill>
                <a:latin typeface="Calibri" pitchFamily="34" charset="0"/>
                <a:ea typeface="Calibri" pitchFamily="34" charset="-122"/>
                <a:cs typeface="Calibri" pitchFamily="34" charset="-120"/>
              </a:rPr>
              <a:t>correctamente</a:t>
            </a:r>
            <a:endParaRPr lang="en-US" sz="900" dirty="0"/>
          </a:p>
        </p:txBody>
      </p:sp>
      <p:sp>
        <p:nvSpPr>
          <p:cNvPr id="23" name="Shape 21"/>
          <p:cNvSpPr/>
          <p:nvPr/>
        </p:nvSpPr>
        <p:spPr>
          <a:xfrm>
            <a:off x="6858000" y="1828800"/>
            <a:ext cx="2011680" cy="2103120"/>
          </a:xfrm>
          <a:prstGeom prst="rect">
            <a:avLst/>
          </a:prstGeom>
          <a:solidFill>
            <a:srgbClr val="F4F7FA"/>
          </a:solidFill>
          <a:ln w="12700">
            <a:solidFill>
              <a:srgbClr val="E0E8F0"/>
            </a:solidFill>
            <a:prstDash val="solid"/>
          </a:ln>
        </p:spPr>
      </p:sp>
      <p:sp>
        <p:nvSpPr>
          <p:cNvPr id="24" name="Shape 22"/>
          <p:cNvSpPr/>
          <p:nvPr/>
        </p:nvSpPr>
        <p:spPr>
          <a:xfrm>
            <a:off x="6858000" y="1828800"/>
            <a:ext cx="2011680" cy="64008"/>
          </a:xfrm>
          <a:prstGeom prst="rect">
            <a:avLst/>
          </a:prstGeom>
          <a:solidFill>
            <a:srgbClr val="F7B731"/>
          </a:solidFill>
          <a:ln w="12700">
            <a:solidFill>
              <a:srgbClr val="F7B731"/>
            </a:solidFill>
            <a:prstDash val="solid"/>
          </a:ln>
        </p:spPr>
      </p:sp>
      <p:sp>
        <p:nvSpPr>
          <p:cNvPr id="25" name="Text 23"/>
          <p:cNvSpPr/>
          <p:nvPr/>
        </p:nvSpPr>
        <p:spPr>
          <a:xfrm>
            <a:off x="6858000" y="1938528"/>
            <a:ext cx="2011680" cy="256032"/>
          </a:xfrm>
          <a:prstGeom prst="rect">
            <a:avLst/>
          </a:prstGeom>
          <a:noFill/>
          <a:ln/>
        </p:spPr>
        <p:txBody>
          <a:bodyPr wrap="square" lIns="0" tIns="0" rIns="0" bIns="0" rtlCol="0" anchor="ctr"/>
          <a:lstStyle/>
          <a:p>
            <a:pPr algn="ctr" indent="0" marL="0">
              <a:buNone/>
            </a:pPr>
            <a:r>
              <a:rPr lang="en-US" sz="1100" b="1" dirty="0">
                <a:solidFill>
                  <a:srgbClr val="F7B731"/>
                </a:solidFill>
                <a:latin typeface="Calibri" pitchFamily="34" charset="0"/>
                <a:ea typeface="Calibri" pitchFamily="34" charset="-122"/>
                <a:cs typeface="Calibri" pitchFamily="34" charset="-120"/>
              </a:rPr>
              <a:t>Mov. Ascendente</a:t>
            </a:r>
            <a:endParaRPr lang="en-US" sz="1100" dirty="0"/>
          </a:p>
        </p:txBody>
      </p:sp>
      <p:sp>
        <p:nvSpPr>
          <p:cNvPr id="26" name="Text 24"/>
          <p:cNvSpPr/>
          <p:nvPr/>
        </p:nvSpPr>
        <p:spPr>
          <a:xfrm>
            <a:off x="6858000" y="2231136"/>
            <a:ext cx="2011680" cy="685800"/>
          </a:xfrm>
          <a:prstGeom prst="rect">
            <a:avLst/>
          </a:prstGeom>
          <a:noFill/>
          <a:ln/>
        </p:spPr>
        <p:txBody>
          <a:bodyPr wrap="square" lIns="0" tIns="0" rIns="0" bIns="0" rtlCol="0" anchor="ctr"/>
          <a:lstStyle/>
          <a:p>
            <a:pPr algn="ctr" indent="0" marL="0">
              <a:buNone/>
            </a:pPr>
            <a:r>
              <a:rPr lang="en-US" sz="3400" b="1" dirty="0">
                <a:solidFill>
                  <a:srgbClr val="F7B731"/>
                </a:solidFill>
                <a:latin typeface="Calibri" pitchFamily="34" charset="0"/>
                <a:ea typeface="Calibri" pitchFamily="34" charset="-122"/>
                <a:cs typeface="Calibri" pitchFamily="34" charset="-120"/>
              </a:rPr>
              <a:t>28.4%</a:t>
            </a:r>
            <a:endParaRPr lang="en-US" sz="3400" dirty="0"/>
          </a:p>
        </p:txBody>
      </p:sp>
      <p:sp>
        <p:nvSpPr>
          <p:cNvPr id="27" name="Text 25"/>
          <p:cNvSpPr/>
          <p:nvPr/>
        </p:nvSpPr>
        <p:spPr>
          <a:xfrm>
            <a:off x="6858000" y="2944368"/>
            <a:ext cx="2011680" cy="38404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predicho</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correctamente</a:t>
            </a:r>
            <a:endParaRPr lang="en-US" sz="900" dirty="0"/>
          </a:p>
        </p:txBody>
      </p:sp>
      <p:sp>
        <p:nvSpPr>
          <p:cNvPr id="28" name="Text 26"/>
          <p:cNvSpPr/>
          <p:nvPr/>
        </p:nvSpPr>
        <p:spPr>
          <a:xfrm>
            <a:off x="6949440" y="3364992"/>
            <a:ext cx="1828800" cy="502920"/>
          </a:xfrm>
          <a:prstGeom prst="rect">
            <a:avLst/>
          </a:prstGeom>
          <a:noFill/>
          <a:ln/>
        </p:spPr>
        <p:txBody>
          <a:bodyPr wrap="square" rtlCol="0" anchor="ctr"/>
          <a:lstStyle/>
          <a:p>
            <a:pPr algn="ctr" indent="0" marL="0">
              <a:lnSpc>
                <a:spcPct val="120000"/>
              </a:lnSpc>
              <a:buNone/>
            </a:pPr>
            <a:r>
              <a:rPr lang="en-US" sz="900" dirty="0">
                <a:solidFill>
                  <a:srgbClr val="556677"/>
                </a:solidFill>
                <a:latin typeface="Calibri" pitchFamily="34" charset="0"/>
                <a:ea typeface="Calibri" pitchFamily="34" charset="-122"/>
                <a:cs typeface="Calibri" pitchFamily="34" charset="-120"/>
              </a:rPr>
              <a:t>116 / 408 — confunde</a:t>
            </a:r>
            <a:endParaRPr lang="en-US" sz="900" dirty="0"/>
          </a:p>
          <a:p>
            <a:pPr algn="ctr" indent="0" marL="0">
              <a:lnSpc>
                <a:spcPct val="120000"/>
              </a:lnSpc>
              <a:buNone/>
            </a:pPr>
            <a:r>
              <a:rPr lang="en-US" sz="900" dirty="0">
                <a:solidFill>
                  <a:srgbClr val="556677"/>
                </a:solidFill>
                <a:latin typeface="Calibri" pitchFamily="34" charset="0"/>
                <a:ea typeface="Calibri" pitchFamily="34" charset="-122"/>
                <a:cs typeface="Calibri" pitchFamily="34" charset="-120"/>
              </a:rPr>
              <a:t>291 como Crónico</a:t>
            </a:r>
            <a:endParaRPr lang="en-US" sz="900" dirty="0"/>
          </a:p>
        </p:txBody>
      </p:sp>
      <p:sp>
        <p:nvSpPr>
          <p:cNvPr id="29" name="Shape 27"/>
          <p:cNvSpPr/>
          <p:nvPr/>
        </p:nvSpPr>
        <p:spPr>
          <a:xfrm>
            <a:off x="274320" y="4114800"/>
            <a:ext cx="8595360" cy="822960"/>
          </a:xfrm>
          <a:prstGeom prst="rect">
            <a:avLst/>
          </a:prstGeom>
          <a:solidFill>
            <a:srgbClr val="EFF6FF"/>
          </a:solidFill>
          <a:ln w="12700">
            <a:solidFill>
              <a:srgbClr val="BFDBFE"/>
            </a:solidFill>
            <a:prstDash val="solid"/>
          </a:ln>
        </p:spPr>
      </p:sp>
      <p:sp>
        <p:nvSpPr>
          <p:cNvPr id="30" name="Text 28"/>
          <p:cNvSpPr/>
          <p:nvPr/>
        </p:nvSpPr>
        <p:spPr>
          <a:xfrm>
            <a:off x="411480" y="4160520"/>
            <a:ext cx="8321040" cy="731520"/>
          </a:xfrm>
          <a:prstGeom prst="rect">
            <a:avLst/>
          </a:prstGeom>
          <a:noFill/>
          <a:ln/>
        </p:spPr>
        <p:txBody>
          <a:bodyPr wrap="square" rtlCol="0" anchor="ctr"/>
          <a:lstStyle/>
          <a:p>
            <a:pPr indent="0" marL="0">
              <a:lnSpc>
                <a:spcPct val="125000"/>
              </a:lnSpc>
              <a:buNone/>
            </a:pPr>
            <a:r>
              <a:rPr lang="en-US" sz="1100" b="1" dirty="0">
                <a:solidFill>
                  <a:srgbClr val="1F4E79"/>
                </a:solidFill>
                <a:latin typeface="Calibri" pitchFamily="34" charset="0"/>
                <a:ea typeface="Calibri" pitchFamily="34" charset="-122"/>
                <a:cs typeface="Calibri" pitchFamily="34" charset="-120"/>
              </a:rPr>
              <a:t>¿Por qué?  </a:t>
            </a:r>
            <a:pPr indent="0" marL="0">
              <a:lnSpc>
                <a:spcPct val="125000"/>
              </a:lnSpc>
              <a:buNone/>
            </a:pPr>
            <a:r>
              <a:rPr lang="en-US" sz="1100" dirty="0">
                <a:solidFill>
                  <a:srgbClr val="334466"/>
                </a:solidFill>
                <a:latin typeface="Calibri" pitchFamily="34" charset="0"/>
                <a:ea typeface="Calibri" pitchFamily="34" charset="-122"/>
                <a:cs typeface="Calibri" pitchFamily="34" charset="-120"/>
              </a:rPr>
              <a:t>Los estados persistentes se predicen bien porque sus determinantes son estructurales y están en los datos. Las transiciones dependen de eventos imprevistos en T+1 — choques, cambios laborales — no capturados. Para mejorarlos se necesitan variables en tiempo real.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182880"/>
            <a:ext cx="2286000" cy="256032"/>
          </a:xfrm>
          <a:prstGeom prst="rect">
            <a:avLst>
              <a:gd name="adj" fmla="val 14286"/>
            </a:avLst>
          </a:prstGeom>
          <a:solidFill>
            <a:srgbClr val="E84855"/>
          </a:solidFill>
          <a:ln w="12700">
            <a:solidFill>
              <a:srgbClr val="E84855"/>
            </a:solidFill>
            <a:prstDash val="solid"/>
          </a:ln>
        </p:spPr>
      </p:sp>
      <p:sp>
        <p:nvSpPr>
          <p:cNvPr id="3" name="Text 1"/>
          <p:cNvSpPr/>
          <p:nvPr/>
        </p:nvSpPr>
        <p:spPr>
          <a:xfrm>
            <a:off x="365760" y="182880"/>
            <a:ext cx="22860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MATRIZ DE CONFUSIÓN</a:t>
            </a:r>
            <a:endParaRPr lang="en-US" sz="1000" dirty="0"/>
          </a:p>
        </p:txBody>
      </p:sp>
      <p:sp>
        <p:nvSpPr>
          <p:cNvPr id="4" name="Text 2"/>
          <p:cNvSpPr/>
          <p:nvPr/>
        </p:nvSpPr>
        <p:spPr>
          <a:xfrm>
            <a:off x="365760" y="502920"/>
            <a:ext cx="8412480" cy="914400"/>
          </a:xfrm>
          <a:prstGeom prst="rect">
            <a:avLst/>
          </a:prstGeom>
          <a:noFill/>
          <a:ln/>
        </p:spPr>
        <p:txBody>
          <a:bodyPr wrap="square" rtlCol="0" anchor="ctr"/>
          <a:lstStyle/>
          <a:p>
            <a:pPr indent="0" marL="0">
              <a:lnSpc>
                <a:spcPct val="110000"/>
              </a:lnSpc>
              <a:buNone/>
            </a:pPr>
            <a:r>
              <a:rPr lang="en-US" sz="2200" b="1" dirty="0">
                <a:solidFill>
                  <a:srgbClr val="0F2D54"/>
                </a:solidFill>
                <a:latin typeface="Calibri" pitchFamily="34" charset="0"/>
                <a:ea typeface="Calibri" pitchFamily="34" charset="-122"/>
                <a:cs typeface="Calibri" pitchFamily="34" charset="-120"/>
              </a:rPr>
              <a:t>El ajuste de umbral transforma la detección</a:t>
            </a:r>
            <a:endParaRPr lang="en-US" sz="2200" dirty="0"/>
          </a:p>
          <a:p>
            <a:pPr indent="0" marL="0">
              <a:lnSpc>
                <a:spcPct val="110000"/>
              </a:lnSpc>
              <a:buNone/>
            </a:pPr>
            <a:r>
              <a:rPr lang="en-US" sz="2200" b="1" dirty="0">
                <a:solidFill>
                  <a:srgbClr val="0F2D54"/>
                </a:solidFill>
                <a:latin typeface="Calibri" pitchFamily="34" charset="0"/>
                <a:ea typeface="Calibri" pitchFamily="34" charset="-122"/>
                <a:cs typeface="Calibri" pitchFamily="34" charset="-120"/>
              </a:rPr>
              <a:t>de hogares vulnerables</a:t>
            </a:r>
            <a:endParaRPr lang="en-US" sz="2200" dirty="0"/>
          </a:p>
        </p:txBody>
      </p:sp>
      <p:sp>
        <p:nvSpPr>
          <p:cNvPr id="5" name="Text 3"/>
          <p:cNvSpPr/>
          <p:nvPr/>
        </p:nvSpPr>
        <p:spPr>
          <a:xfrm>
            <a:off x="274320" y="1481328"/>
            <a:ext cx="4297680" cy="274320"/>
          </a:xfrm>
          <a:prstGeom prst="rect">
            <a:avLst/>
          </a:prstGeom>
          <a:noFill/>
          <a:ln/>
        </p:spPr>
        <p:txBody>
          <a:bodyPr wrap="square" rtlCol="0" anchor="ctr"/>
          <a:lstStyle/>
          <a:p>
            <a:pPr algn="ctr" indent="0" marL="0">
              <a:buNone/>
            </a:pPr>
            <a:r>
              <a:rPr lang="en-US" sz="1100" b="1" dirty="0">
                <a:solidFill>
                  <a:srgbClr val="E84855"/>
                </a:solidFill>
                <a:latin typeface="Calibri" pitchFamily="34" charset="0"/>
                <a:ea typeface="Calibri" pitchFamily="34" charset="-122"/>
                <a:cs typeface="Calibri" pitchFamily="34" charset="-120"/>
              </a:rPr>
              <a:t>Umbral 0.5 (por defecto)</a:t>
            </a:r>
            <a:endParaRPr lang="en-US" sz="1100" dirty="0"/>
          </a:p>
        </p:txBody>
      </p:sp>
      <p:sp>
        <p:nvSpPr>
          <p:cNvPr id="6" name="Text 4"/>
          <p:cNvSpPr/>
          <p:nvPr/>
        </p:nvSpPr>
        <p:spPr>
          <a:xfrm>
            <a:off x="4663440" y="1481328"/>
            <a:ext cx="4297680" cy="274320"/>
          </a:xfrm>
          <a:prstGeom prst="rect">
            <a:avLst/>
          </a:prstGeom>
          <a:noFill/>
          <a:ln/>
        </p:spPr>
        <p:txBody>
          <a:bodyPr wrap="square" rtlCol="0" anchor="ctr"/>
          <a:lstStyle/>
          <a:p>
            <a:pPr algn="ctr" indent="0" marL="0">
              <a:buNone/>
            </a:pPr>
            <a:r>
              <a:rPr lang="en-US" sz="1100" b="1" dirty="0">
                <a:solidFill>
                  <a:srgbClr val="3BB273"/>
                </a:solidFill>
                <a:latin typeface="Calibri" pitchFamily="34" charset="0"/>
                <a:ea typeface="Calibri" pitchFamily="34" charset="-122"/>
                <a:cs typeface="Calibri" pitchFamily="34" charset="-120"/>
              </a:rPr>
              <a:t>Umbral 0.19 (óptimo)</a:t>
            </a:r>
            <a:endParaRPr lang="en-US" sz="1100" dirty="0"/>
          </a:p>
        </p:txBody>
      </p:sp>
      <p:pic>
        <p:nvPicPr>
          <p:cNvPr id="7" name="Image 0" descr="preencoded.png">    </p:cNvPr>
          <p:cNvPicPr>
            <a:picLocks noChangeAspect="1"/>
          </p:cNvPicPr>
          <p:nvPr/>
        </p:nvPicPr>
        <p:blipFill>
          <a:blip r:embed="rId1"/>
          <a:stretch>
            <a:fillRect/>
          </a:stretch>
        </p:blipFill>
        <p:spPr>
          <a:xfrm>
            <a:off x="182880" y="1783080"/>
            <a:ext cx="4389120" cy="2834640"/>
          </a:xfrm>
          <a:prstGeom prst="rect">
            <a:avLst/>
          </a:prstGeom>
        </p:spPr>
      </p:pic>
      <p:pic>
        <p:nvPicPr>
          <p:cNvPr id="8" name="Image 1" descr="preencoded.png">    </p:cNvPr>
          <p:cNvPicPr>
            <a:picLocks noChangeAspect="1"/>
          </p:cNvPicPr>
          <p:nvPr/>
        </p:nvPicPr>
        <p:blipFill>
          <a:blip r:embed="rId2"/>
          <a:stretch>
            <a:fillRect/>
          </a:stretch>
        </p:blipFill>
        <p:spPr>
          <a:xfrm>
            <a:off x="4572000" y="1783080"/>
            <a:ext cx="4389120" cy="2834640"/>
          </a:xfrm>
          <a:prstGeom prst="rect">
            <a:avLst/>
          </a:prstGeom>
        </p:spPr>
      </p:pic>
      <p:sp>
        <p:nvSpPr>
          <p:cNvPr id="9" name="Text 5"/>
          <p:cNvSpPr/>
          <p:nvPr/>
        </p:nvSpPr>
        <p:spPr>
          <a:xfrm>
            <a:off x="4160520" y="2926080"/>
            <a:ext cx="457200" cy="457200"/>
          </a:xfrm>
          <a:prstGeom prst="rect">
            <a:avLst/>
          </a:prstGeom>
          <a:noFill/>
          <a:ln/>
        </p:spPr>
        <p:txBody>
          <a:bodyPr wrap="square" rtlCol="0" anchor="ctr"/>
          <a:lstStyle/>
          <a:p>
            <a:pPr algn="ctr" indent="0" marL="0">
              <a:buNone/>
            </a:pPr>
            <a:r>
              <a:rPr lang="en-US" sz="2400" b="1" dirty="0">
                <a:solidFill>
                  <a:srgbClr val="1F4E79"/>
                </a:solidFill>
                <a:latin typeface="Calibri" pitchFamily="34" charset="0"/>
                <a:ea typeface="Calibri" pitchFamily="34" charset="-122"/>
                <a:cs typeface="Calibri" pitchFamily="34" charset="-120"/>
              </a:rPr>
              <a:t>→</a:t>
            </a:r>
            <a:endParaRPr lang="en-US" sz="2400" dirty="0"/>
          </a:p>
        </p:txBody>
      </p:sp>
      <p:sp>
        <p:nvSpPr>
          <p:cNvPr id="10" name="Shape 6"/>
          <p:cNvSpPr/>
          <p:nvPr/>
        </p:nvSpPr>
        <p:spPr>
          <a:xfrm>
            <a:off x="274320" y="4663440"/>
            <a:ext cx="8595360" cy="320040"/>
          </a:xfrm>
          <a:prstGeom prst="rect">
            <a:avLst/>
          </a:prstGeom>
          <a:solidFill>
            <a:srgbClr val="EFF6FF"/>
          </a:solidFill>
          <a:ln w="12700">
            <a:solidFill>
              <a:srgbClr val="BFDBFE"/>
            </a:solidFill>
            <a:prstDash val="solid"/>
          </a:ln>
        </p:spPr>
      </p:sp>
      <p:sp>
        <p:nvSpPr>
          <p:cNvPr id="11" name="Text 7"/>
          <p:cNvSpPr/>
          <p:nvPr/>
        </p:nvSpPr>
        <p:spPr>
          <a:xfrm>
            <a:off x="365760" y="4681728"/>
            <a:ext cx="8412480" cy="274320"/>
          </a:xfrm>
          <a:prstGeom prst="rect">
            <a:avLst/>
          </a:prstGeom>
          <a:noFill/>
          <a:ln/>
        </p:spPr>
        <p:txBody>
          <a:bodyPr wrap="square" rtlCol="0" anchor="ctr"/>
          <a:lstStyle/>
          <a:p>
            <a:pPr indent="0" marL="0">
              <a:buNone/>
            </a:pPr>
            <a:r>
              <a:rPr lang="en-US" sz="1000" b="1" dirty="0">
                <a:solidFill>
                  <a:srgbClr val="3BB273"/>
                </a:solidFill>
                <a:latin typeface="Calibri" pitchFamily="34" charset="0"/>
                <a:ea typeface="Calibri" pitchFamily="34" charset="-122"/>
                <a:cs typeface="Calibri" pitchFamily="34" charset="-120"/>
              </a:rPr>
              <a:t>Vulnerable: 12.9% → 74.4%  </a:t>
            </a:r>
            <a:pPr indent="0" marL="0">
              <a:buNone/>
            </a:pPr>
            <a:r>
              <a:rPr lang="en-US" sz="1000" dirty="0">
                <a:solidFill>
                  <a:srgbClr val="334466"/>
                </a:solidFill>
                <a:latin typeface="Calibri" pitchFamily="34" charset="0"/>
                <a:ea typeface="Calibri" pitchFamily="34" charset="-122"/>
                <a:cs typeface="Calibri" pitchFamily="34" charset="-120"/>
              </a:rPr>
              <a:t>·  Estable: 97.8% → 71.5%  ·  Crónico: 87.7% → 87.7%  ·  Tradeoff aceptable para política preventiva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365760" y="182880"/>
            <a:ext cx="2011680" cy="256032"/>
          </a:xfrm>
          <a:prstGeom prst="rect">
            <a:avLst>
              <a:gd name="adj" fmla="val 14286"/>
            </a:avLst>
          </a:prstGeom>
          <a:solidFill>
            <a:srgbClr val="0F2D54"/>
          </a:solidFill>
          <a:ln w="12700">
            <a:solidFill>
              <a:srgbClr val="0F2D54"/>
            </a:solidFill>
            <a:prstDash val="solid"/>
          </a:ln>
        </p:spPr>
      </p:sp>
      <p:sp>
        <p:nvSpPr>
          <p:cNvPr id="3" name="Text 1"/>
          <p:cNvSpPr/>
          <p:nvPr/>
        </p:nvSpPr>
        <p:spPr>
          <a:xfrm>
            <a:off x="365760" y="182880"/>
            <a:ext cx="2011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¿QUÉ PREDICE MÁS?</a:t>
            </a:r>
            <a:endParaRPr lang="en-US" sz="1000" dirty="0"/>
          </a:p>
        </p:txBody>
      </p:sp>
      <p:sp>
        <p:nvSpPr>
          <p:cNvPr id="4" name="Text 2"/>
          <p:cNvSpPr/>
          <p:nvPr/>
        </p:nvSpPr>
        <p:spPr>
          <a:xfrm>
            <a:off x="365760" y="530352"/>
            <a:ext cx="8412480" cy="1097280"/>
          </a:xfrm>
          <a:prstGeom prst="rect">
            <a:avLst/>
          </a:prstGeom>
          <a:noFill/>
          <a:ln/>
        </p:spPr>
        <p:txBody>
          <a:bodyPr wrap="square" rtlCol="0" anchor="ctr"/>
          <a:lstStyle/>
          <a:p>
            <a:pPr indent="0" marL="0">
              <a:lnSpc>
                <a:spcPct val="110000"/>
              </a:lnSpc>
              <a:buNone/>
            </a:pPr>
            <a:r>
              <a:rPr lang="en-US" sz="2600" b="1" dirty="0">
                <a:solidFill>
                  <a:srgbClr val="0F2D54"/>
                </a:solidFill>
                <a:latin typeface="Calibri" pitchFamily="34" charset="0"/>
                <a:ea typeface="Calibri" pitchFamily="34" charset="-122"/>
                <a:cs typeface="Calibri" pitchFamily="34" charset="-120"/>
              </a:rPr>
              <a:t>La riqueza es el predictor dominante —</a:t>
            </a:r>
            <a:endParaRPr lang="en-US" sz="2600" dirty="0"/>
          </a:p>
          <a:p>
            <a:pPr indent="0" marL="0">
              <a:lnSpc>
                <a:spcPct val="110000"/>
              </a:lnSpc>
              <a:buNone/>
            </a:pPr>
            <a:r>
              <a:rPr lang="en-US" sz="2600" b="1" dirty="0">
                <a:solidFill>
                  <a:srgbClr val="0F2D54"/>
                </a:solidFill>
                <a:latin typeface="Calibri" pitchFamily="34" charset="0"/>
                <a:ea typeface="Calibri" pitchFamily="34" charset="-122"/>
                <a:cs typeface="Calibri" pitchFamily="34" charset="-120"/>
              </a:rPr>
              <a:t>confirmado en los 3 modelos de árbol</a:t>
            </a:r>
            <a:endParaRPr lang="en-US" sz="2600" dirty="0"/>
          </a:p>
        </p:txBody>
      </p:sp>
      <p:graphicFrame>
        <p:nvGraphicFramePr>
          <p:cNvPr id="5" name="Chart 0" descr=""/>
          <p:cNvGraphicFramePr/>
          <p:nvPr/>
        </p:nvGraphicFramePr>
        <p:xfrm>
          <a:off x="274320" y="1874520"/>
          <a:ext cx="5486400" cy="3017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035040" y="1874520"/>
            <a:ext cx="2834640" cy="1325880"/>
          </a:xfrm>
          <a:prstGeom prst="rect">
            <a:avLst/>
          </a:prstGeom>
          <a:solidFill>
            <a:srgbClr val="2E86AB"/>
          </a:solidFill>
          <a:ln w="12700">
            <a:solidFill>
              <a:srgbClr val="2E86AB"/>
            </a:solidFill>
            <a:prstDash val="solid"/>
          </a:ln>
        </p:spPr>
      </p:sp>
      <p:sp>
        <p:nvSpPr>
          <p:cNvPr id="7" name="Text 4"/>
          <p:cNvSpPr/>
          <p:nvPr/>
        </p:nvSpPr>
        <p:spPr>
          <a:xfrm>
            <a:off x="6035040" y="1938528"/>
            <a:ext cx="2834640" cy="274320"/>
          </a:xfrm>
          <a:prstGeom prst="rect">
            <a:avLst/>
          </a:prstGeom>
          <a:noFill/>
          <a:ln/>
        </p:spPr>
        <p:txBody>
          <a:bodyPr wrap="square" rtlCol="0" anchor="ctr"/>
          <a:lstStyle/>
          <a:p>
            <a:pPr algn="ctr" indent="0" marL="0">
              <a:buNone/>
            </a:pPr>
            <a:r>
              <a:rPr lang="en-US" sz="1000" dirty="0">
                <a:solidFill>
                  <a:srgbClr val="CCE8F5"/>
                </a:solidFill>
                <a:latin typeface="Calibri" pitchFamily="34" charset="0"/>
                <a:ea typeface="Calibri" pitchFamily="34" charset="-122"/>
                <a:cs typeface="Calibri" pitchFamily="34" charset="-120"/>
              </a:rPr>
              <a:t>Riqueza (PCA) — RF</a:t>
            </a:r>
            <a:endParaRPr lang="en-US" sz="1000" dirty="0"/>
          </a:p>
        </p:txBody>
      </p:sp>
      <p:sp>
        <p:nvSpPr>
          <p:cNvPr id="8" name="Text 5"/>
          <p:cNvSpPr/>
          <p:nvPr/>
        </p:nvSpPr>
        <p:spPr>
          <a:xfrm>
            <a:off x="6035040" y="2212848"/>
            <a:ext cx="2834640" cy="59436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59.7%</a:t>
            </a:r>
            <a:endParaRPr lang="en-US" sz="3600" dirty="0"/>
          </a:p>
        </p:txBody>
      </p:sp>
      <p:sp>
        <p:nvSpPr>
          <p:cNvPr id="9" name="Text 6"/>
          <p:cNvSpPr/>
          <p:nvPr/>
        </p:nvSpPr>
        <p:spPr>
          <a:xfrm>
            <a:off x="6035040" y="2834640"/>
            <a:ext cx="2834640" cy="274320"/>
          </a:xfrm>
          <a:prstGeom prst="rect">
            <a:avLst/>
          </a:prstGeom>
          <a:noFill/>
          <a:ln/>
        </p:spPr>
        <p:txBody>
          <a:bodyPr wrap="square" rtlCol="0" anchor="ctr"/>
          <a:lstStyle/>
          <a:p>
            <a:pPr algn="ctr" indent="0" marL="0">
              <a:buNone/>
            </a:pPr>
            <a:r>
              <a:rPr lang="en-US" sz="900" dirty="0">
                <a:solidFill>
                  <a:srgbClr val="CCE8F5"/>
                </a:solidFill>
                <a:latin typeface="Calibri" pitchFamily="34" charset="0"/>
                <a:ea typeface="Calibri" pitchFamily="34" charset="-122"/>
                <a:cs typeface="Calibri" pitchFamily="34" charset="-120"/>
              </a:rPr>
              <a:t>de la capacidad predictiva total</a:t>
            </a:r>
            <a:endParaRPr lang="en-US" sz="900" dirty="0"/>
          </a:p>
        </p:txBody>
      </p:sp>
      <p:sp>
        <p:nvSpPr>
          <p:cNvPr id="10" name="Shape 7"/>
          <p:cNvSpPr/>
          <p:nvPr/>
        </p:nvSpPr>
        <p:spPr>
          <a:xfrm>
            <a:off x="6035040" y="3337560"/>
            <a:ext cx="2834640" cy="960120"/>
          </a:xfrm>
          <a:prstGeom prst="rect">
            <a:avLst/>
          </a:prstGeom>
          <a:solidFill>
            <a:srgbClr val="F4F7FA"/>
          </a:solidFill>
          <a:ln w="12700">
            <a:solidFill>
              <a:srgbClr val="DDE8F0"/>
            </a:solidFill>
            <a:prstDash val="solid"/>
          </a:ln>
        </p:spPr>
      </p:sp>
      <p:sp>
        <p:nvSpPr>
          <p:cNvPr id="11" name="Text 8"/>
          <p:cNvSpPr/>
          <p:nvPr/>
        </p:nvSpPr>
        <p:spPr>
          <a:xfrm>
            <a:off x="6126480" y="3401568"/>
            <a:ext cx="2651760" cy="804672"/>
          </a:xfrm>
          <a:prstGeom prst="rect">
            <a:avLst/>
          </a:prstGeom>
          <a:noFill/>
          <a:ln/>
        </p:spPr>
        <p:txBody>
          <a:bodyPr wrap="square" rtlCol="0" anchor="ctr"/>
          <a:lstStyle/>
          <a:p>
            <a:pPr indent="0" marL="0">
              <a:lnSpc>
                <a:spcPct val="125000"/>
              </a:lnSpc>
              <a:buNone/>
            </a:pPr>
            <a:r>
              <a:rPr lang="en-US" sz="1000" dirty="0">
                <a:solidFill>
                  <a:srgbClr val="334466"/>
                </a:solidFill>
                <a:latin typeface="Calibri" pitchFamily="34" charset="0"/>
                <a:ea typeface="Calibri" pitchFamily="34" charset="-122"/>
                <a:cs typeface="Calibri" pitchFamily="34" charset="-120"/>
              </a:rPr>
              <a:t>GB: 84.8%  ·  XGB: 50.8%</a:t>
            </a:r>
            <a:endParaRPr lang="en-US" sz="1000" dirty="0"/>
          </a:p>
          <a:p>
            <a:pPr indent="0" marL="0">
              <a:lnSpc>
                <a:spcPct val="125000"/>
              </a:lnSpc>
              <a:buNone/>
            </a:pPr>
            <a:endParaRPr lang="en-US" sz="1000" dirty="0"/>
          </a:p>
          <a:p>
            <a:pPr indent="0" marL="0">
              <a:lnSpc>
                <a:spcPct val="125000"/>
              </a:lnSpc>
              <a:buNone/>
            </a:pPr>
            <a:r>
              <a:rPr lang="en-US" sz="1000" dirty="0">
                <a:solidFill>
                  <a:srgbClr val="334466"/>
                </a:solidFill>
                <a:latin typeface="Calibri" pitchFamily="34" charset="0"/>
                <a:ea typeface="Calibri" pitchFamily="34" charset="-122"/>
                <a:cs typeface="Calibri" pitchFamily="34" charset="-120"/>
              </a:rPr>
              <a:t>Riqueza es #1 en los 3 modelos — la conclusión económica es sólida.</a:t>
            </a:r>
            <a:endParaRPr lang="en-US" sz="1000" dirty="0"/>
          </a:p>
        </p:txBody>
      </p:sp>
      <p:sp>
        <p:nvSpPr>
          <p:cNvPr id="12" name="Text 9"/>
          <p:cNvSpPr/>
          <p:nvPr/>
        </p:nvSpPr>
        <p:spPr>
          <a:xfrm>
            <a:off x="274320" y="4846320"/>
            <a:ext cx="8595360" cy="228600"/>
          </a:xfrm>
          <a:prstGeom prst="rect">
            <a:avLst/>
          </a:prstGeom>
          <a:noFill/>
          <a:ln/>
        </p:spPr>
        <p:txBody>
          <a:bodyPr wrap="square"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RF: Riqueza PCA = 59.7%, Activos = 11.2%  ·  GB: 84.8%  ·  XGB: 50.8%  ·  Suma = 100% en cada modelo</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D54"/>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7B731"/>
          </a:solidFill>
          <a:ln w="12700">
            <a:solidFill>
              <a:srgbClr val="F7B731"/>
            </a:solidFill>
            <a:prstDash val="solid"/>
          </a:ln>
        </p:spPr>
      </p:sp>
      <p:sp>
        <p:nvSpPr>
          <p:cNvPr id="3" name="Shape 1"/>
          <p:cNvSpPr/>
          <p:nvPr/>
        </p:nvSpPr>
        <p:spPr>
          <a:xfrm>
            <a:off x="274320" y="201168"/>
            <a:ext cx="2011680" cy="256032"/>
          </a:xfrm>
          <a:prstGeom prst="rect">
            <a:avLst>
              <a:gd name="adj" fmla="val 14286"/>
            </a:avLst>
          </a:prstGeom>
          <a:solidFill>
            <a:srgbClr val="F7B731"/>
          </a:solidFill>
          <a:ln w="12700">
            <a:solidFill>
              <a:srgbClr val="F7B731"/>
            </a:solidFill>
            <a:prstDash val="solid"/>
          </a:ln>
        </p:spPr>
      </p:sp>
      <p:sp>
        <p:nvSpPr>
          <p:cNvPr id="4" name="Text 2"/>
          <p:cNvSpPr/>
          <p:nvPr/>
        </p:nvSpPr>
        <p:spPr>
          <a:xfrm>
            <a:off x="274320" y="201168"/>
            <a:ext cx="201168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RECOMENDACIONES</a:t>
            </a:r>
            <a:endParaRPr lang="en-US" sz="1000" dirty="0"/>
          </a:p>
        </p:txBody>
      </p:sp>
      <p:sp>
        <p:nvSpPr>
          <p:cNvPr id="5" name="Text 3"/>
          <p:cNvSpPr/>
          <p:nvPr/>
        </p:nvSpPr>
        <p:spPr>
          <a:xfrm>
            <a:off x="274320" y="548640"/>
            <a:ext cx="8595360" cy="1097280"/>
          </a:xfrm>
          <a:prstGeom prst="rect">
            <a:avLst/>
          </a:prstGeom>
          <a:noFill/>
          <a:ln/>
        </p:spPr>
        <p:txBody>
          <a:bodyPr wrap="square" rtlCol="0" anchor="ctr"/>
          <a:lstStyle/>
          <a:p>
            <a:pPr indent="0" marL="0">
              <a:lnSpc>
                <a:spcPct val="110000"/>
              </a:lnSpc>
              <a:buNone/>
            </a:pPr>
            <a:r>
              <a:rPr lang="en-US" sz="2600" b="1" dirty="0">
                <a:solidFill>
                  <a:srgbClr val="FFFFFF"/>
                </a:solidFill>
                <a:latin typeface="Calibri" pitchFamily="34" charset="0"/>
                <a:ea typeface="Calibri" pitchFamily="34" charset="-122"/>
                <a:cs typeface="Calibri" pitchFamily="34" charset="-120"/>
              </a:rPr>
              <a:t>La privación en Colombia no es impredecible —</a:t>
            </a:r>
            <a:endParaRPr lang="en-US" sz="2600" dirty="0"/>
          </a:p>
          <a:p>
            <a:pPr indent="0" marL="0">
              <a:lnSpc>
                <a:spcPct val="110000"/>
              </a:lnSpc>
              <a:buNone/>
            </a:pPr>
            <a:r>
              <a:rPr lang="en-US" sz="2600" b="1" dirty="0">
                <a:solidFill>
                  <a:srgbClr val="FFFFFF"/>
                </a:solidFill>
                <a:latin typeface="Calibri" pitchFamily="34" charset="0"/>
                <a:ea typeface="Calibri" pitchFamily="34" charset="-122"/>
                <a:cs typeface="Calibri" pitchFamily="34" charset="-120"/>
              </a:rPr>
              <a:t>puede anticiparse y prevenirse</a:t>
            </a:r>
            <a:endParaRPr lang="en-US" sz="2600" dirty="0"/>
          </a:p>
        </p:txBody>
      </p:sp>
      <p:sp>
        <p:nvSpPr>
          <p:cNvPr id="6" name="Shape 4"/>
          <p:cNvSpPr/>
          <p:nvPr/>
        </p:nvSpPr>
        <p:spPr>
          <a:xfrm>
            <a:off x="274320" y="1828800"/>
            <a:ext cx="457200" cy="685800"/>
          </a:xfrm>
          <a:prstGeom prst="rect">
            <a:avLst/>
          </a:prstGeom>
          <a:solidFill>
            <a:srgbClr val="F7B731"/>
          </a:solidFill>
          <a:ln w="12700">
            <a:solidFill>
              <a:srgbClr val="F7B731"/>
            </a:solidFill>
            <a:prstDash val="solid"/>
          </a:ln>
        </p:spPr>
      </p:sp>
      <p:sp>
        <p:nvSpPr>
          <p:cNvPr id="7" name="Text 5"/>
          <p:cNvSpPr/>
          <p:nvPr/>
        </p:nvSpPr>
        <p:spPr>
          <a:xfrm>
            <a:off x="274320" y="1828800"/>
            <a:ext cx="457200" cy="685800"/>
          </a:xfrm>
          <a:prstGeom prst="rect">
            <a:avLst/>
          </a:prstGeom>
          <a:noFill/>
          <a:ln/>
        </p:spPr>
        <p:txBody>
          <a:bodyPr wrap="square" lIns="0" tIns="0" rIns="0" bIns="0" rtlCol="0" anchor="ctr"/>
          <a:lstStyle/>
          <a:p>
            <a:pPr algn="ctr" indent="0" marL="0">
              <a:buNone/>
            </a:pPr>
            <a:r>
              <a:rPr lang="en-US" sz="1600" b="1" dirty="0">
                <a:solidFill>
                  <a:srgbClr val="0F2D54"/>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868680" y="1874520"/>
            <a:ext cx="7955280" cy="274320"/>
          </a:xfrm>
          <a:prstGeom prst="rect">
            <a:avLst/>
          </a:prstGeom>
          <a:noFill/>
          <a:ln/>
        </p:spPr>
        <p:txBody>
          <a:bodyPr wrap="square" lIns="0" tIns="0" rIns="0" bIns="0" rtlCol="0" anchor="ctr"/>
          <a:lstStyle/>
          <a:p>
            <a:pPr indent="0" marL="0">
              <a:buNone/>
            </a:pPr>
            <a:r>
              <a:rPr lang="en-US" sz="1300" b="1" dirty="0">
                <a:solidFill>
                  <a:srgbClr val="F7B731"/>
                </a:solidFill>
                <a:latin typeface="Calibri" pitchFamily="34" charset="0"/>
                <a:ea typeface="Calibri" pitchFamily="34" charset="-122"/>
                <a:cs typeface="Calibri" pitchFamily="34" charset="-120"/>
              </a:rPr>
              <a:t>Focalización preventiva</a:t>
            </a:r>
            <a:endParaRPr lang="en-US" sz="1300" dirty="0"/>
          </a:p>
        </p:txBody>
      </p:sp>
      <p:sp>
        <p:nvSpPr>
          <p:cNvPr id="9" name="Text 7"/>
          <p:cNvSpPr/>
          <p:nvPr/>
        </p:nvSpPr>
        <p:spPr>
          <a:xfrm>
            <a:off x="868680" y="2157984"/>
            <a:ext cx="7955280" cy="411480"/>
          </a:xfrm>
          <a:prstGeom prst="rect">
            <a:avLst/>
          </a:prstGeom>
          <a:noFill/>
          <a:ln/>
        </p:spPr>
        <p:txBody>
          <a:bodyPr wrap="square" rtlCol="0" anchor="ctr"/>
          <a:lstStyle/>
          <a:p>
            <a:pPr indent="0" marL="0">
              <a:lnSpc>
                <a:spcPct val="120000"/>
              </a:lnSpc>
              <a:buNone/>
            </a:pPr>
            <a:r>
              <a:rPr lang="en-US" sz="1050" dirty="0">
                <a:solidFill>
                  <a:srgbClr val="A8C4DC"/>
                </a:solidFill>
                <a:latin typeface="Calibri" pitchFamily="34" charset="0"/>
                <a:ea typeface="Calibri" pitchFamily="34" charset="-122"/>
                <a:cs typeface="Calibri" pitchFamily="34" charset="-120"/>
              </a:rPr>
              <a:t>Dirigir Familias en Acción y Red Juntos hacia hogares con bajo índice de activos y alta exposición a choques climáticos — antes de que caigan, no después.</a:t>
            </a:r>
            <a:endParaRPr lang="en-US" sz="1050" dirty="0"/>
          </a:p>
        </p:txBody>
      </p:sp>
      <p:sp>
        <p:nvSpPr>
          <p:cNvPr id="10" name="Shape 8"/>
          <p:cNvSpPr/>
          <p:nvPr/>
        </p:nvSpPr>
        <p:spPr>
          <a:xfrm>
            <a:off x="274320" y="2788920"/>
            <a:ext cx="457200" cy="685800"/>
          </a:xfrm>
          <a:prstGeom prst="rect">
            <a:avLst/>
          </a:prstGeom>
          <a:solidFill>
            <a:srgbClr val="F7B731"/>
          </a:solidFill>
          <a:ln w="12700">
            <a:solidFill>
              <a:srgbClr val="F7B731"/>
            </a:solidFill>
            <a:prstDash val="solid"/>
          </a:ln>
        </p:spPr>
      </p:sp>
      <p:sp>
        <p:nvSpPr>
          <p:cNvPr id="11" name="Text 9"/>
          <p:cNvSpPr/>
          <p:nvPr/>
        </p:nvSpPr>
        <p:spPr>
          <a:xfrm>
            <a:off x="274320" y="2788920"/>
            <a:ext cx="457200" cy="685800"/>
          </a:xfrm>
          <a:prstGeom prst="rect">
            <a:avLst/>
          </a:prstGeom>
          <a:noFill/>
          <a:ln/>
        </p:spPr>
        <p:txBody>
          <a:bodyPr wrap="square" lIns="0" tIns="0" rIns="0" bIns="0" rtlCol="0" anchor="ctr"/>
          <a:lstStyle/>
          <a:p>
            <a:pPr algn="ctr" indent="0" marL="0">
              <a:buNone/>
            </a:pPr>
            <a:r>
              <a:rPr lang="en-US" sz="1600" b="1" dirty="0">
                <a:solidFill>
                  <a:srgbClr val="0F2D54"/>
                </a:solidFill>
                <a:latin typeface="Calibri" pitchFamily="34" charset="0"/>
                <a:ea typeface="Calibri" pitchFamily="34" charset="-122"/>
                <a:cs typeface="Calibri" pitchFamily="34" charset="-120"/>
              </a:rPr>
              <a:t>02</a:t>
            </a:r>
            <a:endParaRPr lang="en-US" sz="1600" dirty="0"/>
          </a:p>
        </p:txBody>
      </p:sp>
      <p:sp>
        <p:nvSpPr>
          <p:cNvPr id="12" name="Text 10"/>
          <p:cNvSpPr/>
          <p:nvPr/>
        </p:nvSpPr>
        <p:spPr>
          <a:xfrm>
            <a:off x="868680" y="2834640"/>
            <a:ext cx="7955280" cy="274320"/>
          </a:xfrm>
          <a:prstGeom prst="rect">
            <a:avLst/>
          </a:prstGeom>
          <a:noFill/>
          <a:ln/>
        </p:spPr>
        <p:txBody>
          <a:bodyPr wrap="square" lIns="0" tIns="0" rIns="0" bIns="0" rtlCol="0" anchor="ctr"/>
          <a:lstStyle/>
          <a:p>
            <a:pPr indent="0" marL="0">
              <a:buNone/>
            </a:pPr>
            <a:r>
              <a:rPr lang="en-US" sz="1300" b="1" dirty="0">
                <a:solidFill>
                  <a:srgbClr val="F7B731"/>
                </a:solidFill>
                <a:latin typeface="Calibri" pitchFamily="34" charset="0"/>
                <a:ea typeface="Calibri" pitchFamily="34" charset="-122"/>
                <a:cs typeface="Calibri" pitchFamily="34" charset="-120"/>
              </a:rPr>
              <a:t>Crédito formal en zonas rurales</a:t>
            </a:r>
            <a:endParaRPr lang="en-US" sz="1300" dirty="0"/>
          </a:p>
        </p:txBody>
      </p:sp>
      <p:sp>
        <p:nvSpPr>
          <p:cNvPr id="13" name="Text 11"/>
          <p:cNvSpPr/>
          <p:nvPr/>
        </p:nvSpPr>
        <p:spPr>
          <a:xfrm>
            <a:off x="868680" y="3118104"/>
            <a:ext cx="7955280" cy="411480"/>
          </a:xfrm>
          <a:prstGeom prst="rect">
            <a:avLst/>
          </a:prstGeom>
          <a:noFill/>
          <a:ln/>
        </p:spPr>
        <p:txBody>
          <a:bodyPr wrap="square" rtlCol="0" anchor="ctr"/>
          <a:lstStyle/>
          <a:p>
            <a:pPr indent="0" marL="0">
              <a:lnSpc>
                <a:spcPct val="120000"/>
              </a:lnSpc>
              <a:buNone/>
            </a:pPr>
            <a:r>
              <a:rPr lang="en-US" sz="1050" dirty="0">
                <a:solidFill>
                  <a:srgbClr val="A8C4DC"/>
                </a:solidFill>
                <a:latin typeface="Calibri" pitchFamily="34" charset="0"/>
                <a:ea typeface="Calibri" pitchFamily="34" charset="-122"/>
                <a:cs typeface="Calibri" pitchFamily="34" charset="-120"/>
              </a:rPr>
              <a:t>Solo el 10.9% tiene acceso. La banca de proximidad y los fondos de garantía para pequeños productores son la intervención más directa sobre la brecha de resiliencia.</a:t>
            </a:r>
            <a:endParaRPr lang="en-US" sz="1050" dirty="0"/>
          </a:p>
        </p:txBody>
      </p:sp>
      <p:sp>
        <p:nvSpPr>
          <p:cNvPr id="14" name="Shape 12"/>
          <p:cNvSpPr/>
          <p:nvPr/>
        </p:nvSpPr>
        <p:spPr>
          <a:xfrm>
            <a:off x="274320" y="3749040"/>
            <a:ext cx="457200" cy="685800"/>
          </a:xfrm>
          <a:prstGeom prst="rect">
            <a:avLst/>
          </a:prstGeom>
          <a:solidFill>
            <a:srgbClr val="F7B731"/>
          </a:solidFill>
          <a:ln w="12700">
            <a:solidFill>
              <a:srgbClr val="F7B731"/>
            </a:solidFill>
            <a:prstDash val="solid"/>
          </a:ln>
        </p:spPr>
      </p:sp>
      <p:sp>
        <p:nvSpPr>
          <p:cNvPr id="15" name="Text 13"/>
          <p:cNvSpPr/>
          <p:nvPr/>
        </p:nvSpPr>
        <p:spPr>
          <a:xfrm>
            <a:off x="274320" y="3749040"/>
            <a:ext cx="457200" cy="685800"/>
          </a:xfrm>
          <a:prstGeom prst="rect">
            <a:avLst/>
          </a:prstGeom>
          <a:noFill/>
          <a:ln/>
        </p:spPr>
        <p:txBody>
          <a:bodyPr wrap="square" lIns="0" tIns="0" rIns="0" bIns="0" rtlCol="0" anchor="ctr"/>
          <a:lstStyle/>
          <a:p>
            <a:pPr algn="ctr" indent="0" marL="0">
              <a:buNone/>
            </a:pPr>
            <a:r>
              <a:rPr lang="en-US" sz="1600" b="1" dirty="0">
                <a:solidFill>
                  <a:srgbClr val="0F2D54"/>
                </a:solidFill>
                <a:latin typeface="Calibri" pitchFamily="34" charset="0"/>
                <a:ea typeface="Calibri" pitchFamily="34" charset="-122"/>
                <a:cs typeface="Calibri" pitchFamily="34" charset="-120"/>
              </a:rPr>
              <a:t>03</a:t>
            </a:r>
            <a:endParaRPr lang="en-US" sz="1600" dirty="0"/>
          </a:p>
        </p:txBody>
      </p:sp>
      <p:sp>
        <p:nvSpPr>
          <p:cNvPr id="16" name="Text 14"/>
          <p:cNvSpPr/>
          <p:nvPr/>
        </p:nvSpPr>
        <p:spPr>
          <a:xfrm>
            <a:off x="868680" y="3794760"/>
            <a:ext cx="7955280" cy="274320"/>
          </a:xfrm>
          <a:prstGeom prst="rect">
            <a:avLst/>
          </a:prstGeom>
          <a:noFill/>
          <a:ln/>
        </p:spPr>
        <p:txBody>
          <a:bodyPr wrap="square" lIns="0" tIns="0" rIns="0" bIns="0" rtlCol="0" anchor="ctr"/>
          <a:lstStyle/>
          <a:p>
            <a:pPr indent="0" marL="0">
              <a:buNone/>
            </a:pPr>
            <a:r>
              <a:rPr lang="en-US" sz="1300" b="1" dirty="0">
                <a:solidFill>
                  <a:srgbClr val="F7B731"/>
                </a:solidFill>
                <a:latin typeface="Calibri" pitchFamily="34" charset="0"/>
                <a:ea typeface="Calibri" pitchFamily="34" charset="-122"/>
                <a:cs typeface="Calibri" pitchFamily="34" charset="-120"/>
              </a:rPr>
              <a:t>Infraestructura de vivienda</a:t>
            </a:r>
            <a:endParaRPr lang="en-US" sz="1300" dirty="0"/>
          </a:p>
        </p:txBody>
      </p:sp>
      <p:sp>
        <p:nvSpPr>
          <p:cNvPr id="17" name="Text 15"/>
          <p:cNvSpPr/>
          <p:nvPr/>
        </p:nvSpPr>
        <p:spPr>
          <a:xfrm>
            <a:off x="868680" y="4078224"/>
            <a:ext cx="7955280" cy="411480"/>
          </a:xfrm>
          <a:prstGeom prst="rect">
            <a:avLst/>
          </a:prstGeom>
          <a:noFill/>
          <a:ln/>
        </p:spPr>
        <p:txBody>
          <a:bodyPr wrap="square" rtlCol="0" anchor="ctr"/>
          <a:lstStyle/>
          <a:p>
            <a:pPr indent="0" marL="0">
              <a:lnSpc>
                <a:spcPct val="120000"/>
              </a:lnSpc>
              <a:buNone/>
            </a:pPr>
            <a:r>
              <a:rPr lang="en-US" sz="1050" dirty="0">
                <a:solidFill>
                  <a:srgbClr val="A8C4DC"/>
                </a:solidFill>
                <a:latin typeface="Calibri" pitchFamily="34" charset="0"/>
                <a:ea typeface="Calibri" pitchFamily="34" charset="-122"/>
                <a:cs typeface="Calibri" pitchFamily="34" charset="-120"/>
              </a:rPr>
              <a:t>La privación habitacional (41.3%) es la más extendida. La inversión en acueducto, alcantarillado y pisos ataca directamente el componente más prevalente del IPBH.</a:t>
            </a:r>
            <a:endParaRPr lang="en-US" sz="1050" dirty="0"/>
          </a:p>
        </p:txBody>
      </p:sp>
      <p:sp>
        <p:nvSpPr>
          <p:cNvPr id="18" name="Shape 16"/>
          <p:cNvSpPr/>
          <p:nvPr/>
        </p:nvSpPr>
        <p:spPr>
          <a:xfrm>
            <a:off x="274320" y="4663440"/>
            <a:ext cx="8595360" cy="0"/>
          </a:xfrm>
          <a:prstGeom prst="line">
            <a:avLst/>
          </a:prstGeom>
          <a:noFill/>
          <a:ln w="12700">
            <a:solidFill>
              <a:srgbClr val="2E4A6B"/>
            </a:solidFill>
            <a:prstDash val="solid"/>
          </a:ln>
        </p:spPr>
      </p:sp>
      <p:sp>
        <p:nvSpPr>
          <p:cNvPr id="19" name="Text 17"/>
          <p:cNvSpPr/>
          <p:nvPr/>
        </p:nvSpPr>
        <p:spPr>
          <a:xfrm>
            <a:off x="274320" y="4754880"/>
            <a:ext cx="8595360" cy="274320"/>
          </a:xfrm>
          <a:prstGeom prst="rect">
            <a:avLst/>
          </a:prstGeom>
          <a:noFill/>
          <a:ln/>
        </p:spPr>
        <p:txBody>
          <a:bodyPr wrap="square" rtlCol="0" anchor="ctr"/>
          <a:lstStyle/>
          <a:p>
            <a:pPr algn="ctr" indent="0" marL="0">
              <a:buNone/>
            </a:pPr>
            <a:r>
              <a:rPr lang="en-US" sz="950" dirty="0">
                <a:solidFill>
                  <a:srgbClr val="6B88A8"/>
                </a:solidFill>
                <a:latin typeface="Calibri" pitchFamily="34" charset="0"/>
                <a:ea typeface="Calibri" pitchFamily="34" charset="-122"/>
                <a:cs typeface="Calibri" pitchFamily="34" charset="-120"/>
              </a:rPr>
              <a:t>Talia Linares  ·  Camilo Rendón  ·  Nicolás Cubillos  ·  Alejandro Velandia  ·  Universidad Externado de Colombia  ·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2026-05-19T00:57:02Z</dcterms:created>
  <dcterms:modified xsi:type="dcterms:W3CDTF">2026-05-19T00:57:02Z</dcterms:modified>
</cp:coreProperties>
</file>